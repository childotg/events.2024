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685" r:id="rId5"/>
    <p:sldId id="258" r:id="rId6"/>
    <p:sldId id="257" r:id="rId7"/>
    <p:sldId id="260" r:id="rId8"/>
    <p:sldId id="259" r:id="rId9"/>
    <p:sldId id="262" r:id="rId10"/>
    <p:sldId id="261" r:id="rId11"/>
    <p:sldId id="265" r:id="rId12"/>
    <p:sldId id="266" r:id="rId13"/>
    <p:sldId id="267" r:id="rId14"/>
    <p:sldId id="268" r:id="rId15"/>
    <p:sldId id="269" r:id="rId16"/>
    <p:sldId id="264" r:id="rId17"/>
    <p:sldId id="270" r:id="rId18"/>
    <p:sldId id="347" r:id="rId19"/>
    <p:sldId id="271" r:id="rId20"/>
    <p:sldId id="272" r:id="rId21"/>
    <p:sldId id="348" r:id="rId22"/>
    <p:sldId id="285" r:id="rId23"/>
    <p:sldId id="349" r:id="rId24"/>
    <p:sldId id="340" r:id="rId25"/>
    <p:sldId id="341" r:id="rId26"/>
    <p:sldId id="342" r:id="rId27"/>
    <p:sldId id="273" r:id="rId28"/>
    <p:sldId id="343" r:id="rId29"/>
    <p:sldId id="344" r:id="rId30"/>
    <p:sldId id="350" r:id="rId31"/>
    <p:sldId id="345" r:id="rId32"/>
    <p:sldId id="677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222222"/>
    <a:srgbClr val="000000"/>
    <a:srgbClr val="A252FF"/>
    <a:srgbClr val="BF2E1B"/>
    <a:srgbClr val="BD2716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51" autoAdjust="0"/>
    <p:restoredTop sz="86447"/>
  </p:normalViewPr>
  <p:slideViewPr>
    <p:cSldViewPr snapToGrid="0">
      <p:cViewPr>
        <p:scale>
          <a:sx n="96" d="100"/>
          <a:sy n="96" d="100"/>
        </p:scale>
        <p:origin x="840" y="72"/>
      </p:cViewPr>
      <p:guideLst>
        <p:guide orient="horz" pos="958"/>
        <p:guide pos="243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ber\OneDrive\Eventi\210412%20-%20Serverless%20Conference%20@The%20Hague\Agend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ber\OneDrive\Eventi\210412%20-%20Serverless%20Conference%20@The%20Hague\Agend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Anatomy of an Innovation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Sheet1!$D$9</c:f>
              <c:strCache>
                <c:ptCount val="1"/>
                <c:pt idx="0">
                  <c:v>Innovation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Sheet1!$E$8:$L$8</c:f>
              <c:strCache>
                <c:ptCount val="8"/>
                <c:pt idx="1">
                  <c:v>Ferment</c:v>
                </c:pt>
                <c:pt idx="2">
                  <c:v>Growth</c:v>
                </c:pt>
                <c:pt idx="3">
                  <c:v>Peak</c:v>
                </c:pt>
                <c:pt idx="4">
                  <c:v>Disillusion</c:v>
                </c:pt>
                <c:pt idx="5">
                  <c:v>Maturity</c:v>
                </c:pt>
                <c:pt idx="7">
                  <c:v>Plateau</c:v>
                </c:pt>
              </c:strCache>
            </c:strRef>
          </c:cat>
          <c:val>
            <c:numRef>
              <c:f>Sheet1!$E$9:$L$9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90</c:v>
                </c:pt>
                <c:pt idx="3">
                  <c:v>100</c:v>
                </c:pt>
                <c:pt idx="4">
                  <c:v>90</c:v>
                </c:pt>
                <c:pt idx="5">
                  <c:v>60</c:v>
                </c:pt>
                <c:pt idx="6">
                  <c:v>50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DC-49E2-B8F9-A49AD9BE6D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046911088"/>
        <c:axId val="1046912048"/>
      </c:lineChart>
      <c:catAx>
        <c:axId val="104691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46912048"/>
        <c:crosses val="autoZero"/>
        <c:auto val="1"/>
        <c:lblAlgn val="ctr"/>
        <c:lblOffset val="100"/>
        <c:noMultiLvlLbl val="0"/>
      </c:catAx>
      <c:valAx>
        <c:axId val="1046912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4691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sz="1800"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Gen-AI momentum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Sheet1!$D$9</c:f>
              <c:strCache>
                <c:ptCount val="1"/>
                <c:pt idx="0">
                  <c:v>Innovation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Sheet1!$E$8:$L$8</c:f>
              <c:strCache>
                <c:ptCount val="8"/>
                <c:pt idx="1">
                  <c:v>Ferment</c:v>
                </c:pt>
                <c:pt idx="2">
                  <c:v>Growth</c:v>
                </c:pt>
                <c:pt idx="3">
                  <c:v>Peak</c:v>
                </c:pt>
                <c:pt idx="4">
                  <c:v>Disillusion</c:v>
                </c:pt>
                <c:pt idx="5">
                  <c:v>Maturity</c:v>
                </c:pt>
                <c:pt idx="7">
                  <c:v>Plateau</c:v>
                </c:pt>
              </c:strCache>
            </c:strRef>
          </c:cat>
          <c:val>
            <c:numRef>
              <c:f>Sheet1!$E$9:$L$9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90</c:v>
                </c:pt>
                <c:pt idx="3">
                  <c:v>100</c:v>
                </c:pt>
                <c:pt idx="4">
                  <c:v>90</c:v>
                </c:pt>
                <c:pt idx="5">
                  <c:v>60</c:v>
                </c:pt>
                <c:pt idx="6">
                  <c:v>50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DC-49E2-B8F9-A49AD9BE6D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046911088"/>
        <c:axId val="1046912048"/>
      </c:lineChart>
      <c:catAx>
        <c:axId val="104691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46912048"/>
        <c:crosses val="autoZero"/>
        <c:auto val="1"/>
        <c:lblAlgn val="ctr"/>
        <c:lblOffset val="100"/>
        <c:noMultiLvlLbl val="0"/>
      </c:catAx>
      <c:valAx>
        <c:axId val="1046912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4691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sz="1800"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Anatomy of an Innovation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Sheet1!$D$9</c:f>
              <c:strCache>
                <c:ptCount val="1"/>
                <c:pt idx="0">
                  <c:v>Innovation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Sheet1!$E$8:$L$8</c:f>
              <c:strCache>
                <c:ptCount val="8"/>
                <c:pt idx="1">
                  <c:v>Ferment</c:v>
                </c:pt>
                <c:pt idx="2">
                  <c:v>Growth</c:v>
                </c:pt>
                <c:pt idx="3">
                  <c:v>Peak</c:v>
                </c:pt>
                <c:pt idx="4">
                  <c:v>Disillusion</c:v>
                </c:pt>
                <c:pt idx="5">
                  <c:v>Maturity</c:v>
                </c:pt>
                <c:pt idx="7">
                  <c:v>Plateau</c:v>
                </c:pt>
              </c:strCache>
            </c:strRef>
          </c:cat>
          <c:val>
            <c:numRef>
              <c:f>Sheet1!$E$9:$L$9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90</c:v>
                </c:pt>
                <c:pt idx="3">
                  <c:v>100</c:v>
                </c:pt>
                <c:pt idx="4">
                  <c:v>90</c:v>
                </c:pt>
                <c:pt idx="5">
                  <c:v>60</c:v>
                </c:pt>
                <c:pt idx="6">
                  <c:v>50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DC-49E2-B8F9-A49AD9BE6D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046911088"/>
        <c:axId val="1046912048"/>
      </c:lineChart>
      <c:catAx>
        <c:axId val="104691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46912048"/>
        <c:crosses val="autoZero"/>
        <c:auto val="1"/>
        <c:lblAlgn val="ctr"/>
        <c:lblOffset val="100"/>
        <c:noMultiLvlLbl val="0"/>
      </c:catAx>
      <c:valAx>
        <c:axId val="1046912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4691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sz="1800"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7937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6C5B1486-4378-4F24-BCDB-375CEF9659A8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579-4E96-BFC9-28CBA57C1F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629787F-8A15-43F2-8DB4-626AD8582975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579-4E96-BFC9-28CBA57C1F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D78E760-ED39-436E-8184-17B40FA2D0C1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579-4E96-BFC9-28CBA57C1FF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DFCE5C3-868E-42FF-8A72-747FEB12C3AA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579-4E96-BFC9-28CBA57C1FF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F10F33A-DB56-4A3B-8608-19041D131F26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579-4E96-BFC9-28CBA57C1FF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3B44CAA-3567-45C9-B6D2-3CD655F7AF3E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579-4E96-BFC9-28CBA57C1FF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55351DC0-D279-4AB8-B976-314590908143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579-4E96-BFC9-28CBA57C1FF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E8F036A-7A77-435D-BAE0-8F5402A2E34D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579-4E96-BFC9-28CBA57C1F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'Magic Quadrant'!$B$2:$B$9</c:f>
              <c:numCache>
                <c:formatCode>0%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0.65</c:v>
                </c:pt>
                <c:pt idx="4">
                  <c:v>0.4</c:v>
                </c:pt>
                <c:pt idx="5">
                  <c:v>0.6</c:v>
                </c:pt>
                <c:pt idx="6">
                  <c:v>0.2</c:v>
                </c:pt>
                <c:pt idx="7">
                  <c:v>0.1</c:v>
                </c:pt>
              </c:numCache>
            </c:numRef>
          </c:xVal>
          <c:yVal>
            <c:numRef>
              <c:f>'Magic Quadrant'!$C$2:$C$9</c:f>
              <c:numCache>
                <c:formatCode>0%</c:formatCode>
                <c:ptCount val="8"/>
                <c:pt idx="0">
                  <c:v>0.7</c:v>
                </c:pt>
                <c:pt idx="1">
                  <c:v>0.35</c:v>
                </c:pt>
                <c:pt idx="2">
                  <c:v>0.8</c:v>
                </c:pt>
                <c:pt idx="3">
                  <c:v>0.55000000000000004</c:v>
                </c:pt>
                <c:pt idx="4">
                  <c:v>0.6</c:v>
                </c:pt>
                <c:pt idx="5">
                  <c:v>0.9</c:v>
                </c:pt>
                <c:pt idx="6">
                  <c:v>0.7</c:v>
                </c:pt>
                <c:pt idx="7">
                  <c:v>0.1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'Magic Quadrant'!$A$2:$A$9</c15:f>
                <c15:dlblRangeCache>
                  <c:ptCount val="8"/>
                  <c:pt idx="0">
                    <c:v>Azure Functions</c:v>
                  </c:pt>
                  <c:pt idx="1">
                    <c:v>App Service (and WebJobs)</c:v>
                  </c:pt>
                  <c:pt idx="2">
                    <c:v>Container Instances</c:v>
                  </c:pt>
                  <c:pt idx="3">
                    <c:v>Azure Kubernetes Service</c:v>
                  </c:pt>
                  <c:pt idx="4">
                    <c:v>Service Fabric</c:v>
                  </c:pt>
                  <c:pt idx="5">
                    <c:v>Azure Batch</c:v>
                  </c:pt>
                  <c:pt idx="6">
                    <c:v>Scale Sets</c:v>
                  </c:pt>
                  <c:pt idx="7">
                    <c:v>Virtual Machines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E579-4E96-BFC9-28CBA57C1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4287"/>
        <c:axId val="120363023"/>
      </c:scatterChart>
      <c:scatterChart>
        <c:scatterStyle val="smoothMarker"/>
        <c:varyColors val="0"/>
        <c:ser>
          <c:idx val="2"/>
          <c:order val="1"/>
          <c:tx>
            <c:v>Vertical line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'Magic Quadrant'!$F$4:$F$5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xVal>
          <c:yVal>
            <c:numRef>
              <c:f>'Magic Quadrant'!$G$4:$G$5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E579-4E96-BFC9-28CBA57C1FFB}"/>
            </c:ext>
          </c:extLst>
        </c:ser>
        <c:ser>
          <c:idx val="1"/>
          <c:order val="2"/>
          <c:tx>
            <c:v>Horizontal line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'Magic Quadrant'!$F$2:$F$3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'Magic Quadrant'!$G$2:$G$3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E579-4E96-BFC9-28CBA57C1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4287"/>
        <c:axId val="120363023"/>
      </c:scatterChart>
      <c:valAx>
        <c:axId val="14964287"/>
        <c:scaling>
          <c:orientation val="minMax"/>
          <c:max val="1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Ease of management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it-IT"/>
          </a:p>
        </c:txPr>
        <c:crossAx val="120363023"/>
        <c:crosses val="autoZero"/>
        <c:crossBetween val="midCat"/>
      </c:valAx>
      <c:valAx>
        <c:axId val="120363023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9642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7937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CDB8861C-8017-4CE4-AC4F-ACA17B253326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579-4E96-BFC9-28CBA57C1F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D7FF9F-0027-42F2-B568-92D3BC63F15B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579-4E96-BFC9-28CBA57C1F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AE3D26F-EBFB-435C-86C9-3D1CA67A9AEA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579-4E96-BFC9-28CBA57C1FF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FCD91ED-D3E7-40B5-998F-E8FE9F158992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579-4E96-BFC9-28CBA57C1FF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DCC0713-9B8D-44B0-B95E-0F964BEC61B4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579-4E96-BFC9-28CBA57C1FF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8DA86B3-A5D9-4CEC-BC3C-BC54D8CFC403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579-4E96-BFC9-28CBA57C1FF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031FFE00-B99E-4892-B4F3-EE267033B65A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579-4E96-BFC9-28CBA57C1FF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FD2BDD39-E89E-461F-97E0-1B70C9B410C9}" type="CELLRANGE">
                      <a:rPr lang="it-IT"/>
                      <a:pPr/>
                      <a:t>[CELLRANGE]</a:t>
                    </a:fld>
                    <a:endParaRPr lang="it-IT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579-4E96-BFC9-28CBA57C1F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'Magic Quadrant'!$B$2:$B$9</c:f>
              <c:numCache>
                <c:formatCode>0%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0.65</c:v>
                </c:pt>
                <c:pt idx="4">
                  <c:v>0.4</c:v>
                </c:pt>
                <c:pt idx="5">
                  <c:v>0.6</c:v>
                </c:pt>
                <c:pt idx="6">
                  <c:v>0.2</c:v>
                </c:pt>
                <c:pt idx="7">
                  <c:v>0.1</c:v>
                </c:pt>
              </c:numCache>
            </c:numRef>
          </c:xVal>
          <c:yVal>
            <c:numRef>
              <c:f>'Magic Quadrant'!$C$2:$C$9</c:f>
              <c:numCache>
                <c:formatCode>0%</c:formatCode>
                <c:ptCount val="8"/>
                <c:pt idx="0">
                  <c:v>0.7</c:v>
                </c:pt>
                <c:pt idx="1">
                  <c:v>0.35</c:v>
                </c:pt>
                <c:pt idx="2">
                  <c:v>0.8</c:v>
                </c:pt>
                <c:pt idx="3">
                  <c:v>0.55000000000000004</c:v>
                </c:pt>
                <c:pt idx="4">
                  <c:v>0.6</c:v>
                </c:pt>
                <c:pt idx="5">
                  <c:v>0.9</c:v>
                </c:pt>
                <c:pt idx="6">
                  <c:v>0.7</c:v>
                </c:pt>
                <c:pt idx="7">
                  <c:v>0.1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'Magic Quadrant'!$A$2:$A$9</c15:f>
                <c15:dlblRangeCache>
                  <c:ptCount val="8"/>
                  <c:pt idx="0">
                    <c:v>Azure Functions</c:v>
                  </c:pt>
                  <c:pt idx="1">
                    <c:v>App Service (and WebJobs)</c:v>
                  </c:pt>
                  <c:pt idx="2">
                    <c:v>Container Instances</c:v>
                  </c:pt>
                  <c:pt idx="3">
                    <c:v>Azure Kubernetes Service</c:v>
                  </c:pt>
                  <c:pt idx="4">
                    <c:v>Service Fabric</c:v>
                  </c:pt>
                  <c:pt idx="5">
                    <c:v>Azure Batch</c:v>
                  </c:pt>
                  <c:pt idx="6">
                    <c:v>Scale Sets</c:v>
                  </c:pt>
                  <c:pt idx="7">
                    <c:v>Virtual Machines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E579-4E96-BFC9-28CBA57C1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4287"/>
        <c:axId val="120363023"/>
      </c:scatterChart>
      <c:scatterChart>
        <c:scatterStyle val="smoothMarker"/>
        <c:varyColors val="0"/>
        <c:ser>
          <c:idx val="2"/>
          <c:order val="1"/>
          <c:tx>
            <c:v>Vertical line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'Magic Quadrant'!$F$4:$F$5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xVal>
          <c:yVal>
            <c:numRef>
              <c:f>'Magic Quadrant'!$G$4:$G$5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E579-4E96-BFC9-28CBA57C1FFB}"/>
            </c:ext>
          </c:extLst>
        </c:ser>
        <c:ser>
          <c:idx val="1"/>
          <c:order val="2"/>
          <c:tx>
            <c:v>Horizontal line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'Magic Quadrant'!$F$2:$F$3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'Magic Quadrant'!$G$2:$G$3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E579-4E96-BFC9-28CBA57C1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4287"/>
        <c:axId val="120363023"/>
      </c:scatterChart>
      <c:valAx>
        <c:axId val="14964287"/>
        <c:scaling>
          <c:orientation val="minMax"/>
          <c:max val="1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Ease of management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it-IT"/>
          </a:p>
        </c:txPr>
        <c:crossAx val="120363023"/>
        <c:crosses val="autoZero"/>
        <c:crossBetween val="midCat"/>
      </c:valAx>
      <c:valAx>
        <c:axId val="120363023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9642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5596A0-F57C-4368-8363-BDD31CA0411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F62FE323-AB27-430C-8F4B-CB98A2ADF993}">
      <dgm:prSet phldrT="[Text]"/>
      <dgm:spPr/>
      <dgm:t>
        <a:bodyPr/>
        <a:lstStyle/>
        <a:p>
          <a:r>
            <a:rPr lang="en-US" dirty="0"/>
            <a:t>Kubernetes</a:t>
          </a:r>
          <a:endParaRPr lang="it-IT" dirty="0"/>
        </a:p>
      </dgm:t>
    </dgm:pt>
    <dgm:pt modelId="{975E8C9B-22DD-4E15-ACB3-B933A4BFF1E8}" type="parTrans" cxnId="{95A4A621-002E-459A-A7D8-B2BD98A685CB}">
      <dgm:prSet/>
      <dgm:spPr/>
      <dgm:t>
        <a:bodyPr/>
        <a:lstStyle/>
        <a:p>
          <a:endParaRPr lang="it-IT"/>
        </a:p>
      </dgm:t>
    </dgm:pt>
    <dgm:pt modelId="{00C53B40-E2EA-4921-8320-43069E2DFC4F}" type="sibTrans" cxnId="{95A4A621-002E-459A-A7D8-B2BD98A685CB}">
      <dgm:prSet/>
      <dgm:spPr/>
      <dgm:t>
        <a:bodyPr/>
        <a:lstStyle/>
        <a:p>
          <a:endParaRPr lang="it-IT"/>
        </a:p>
      </dgm:t>
    </dgm:pt>
    <dgm:pt modelId="{0C28CA36-BB1B-4F85-B204-F1E3CA662BA6}">
      <dgm:prSet phldrT="[Text]"/>
      <dgm:spPr/>
      <dgm:t>
        <a:bodyPr/>
        <a:lstStyle/>
        <a:p>
          <a:r>
            <a:rPr lang="en-US" dirty="0"/>
            <a:t>Need to manage despite it’s PaaS</a:t>
          </a:r>
          <a:endParaRPr lang="it-IT" dirty="0"/>
        </a:p>
      </dgm:t>
    </dgm:pt>
    <dgm:pt modelId="{66A9F54F-B760-4C90-B7C4-6E970666967C}" type="parTrans" cxnId="{9229E298-487A-4F3C-A224-ADBCB32B21B8}">
      <dgm:prSet/>
      <dgm:spPr/>
      <dgm:t>
        <a:bodyPr/>
        <a:lstStyle/>
        <a:p>
          <a:endParaRPr lang="it-IT"/>
        </a:p>
      </dgm:t>
    </dgm:pt>
    <dgm:pt modelId="{15F8597B-5E37-48C5-B037-36DFDF0940CA}" type="sibTrans" cxnId="{9229E298-487A-4F3C-A224-ADBCB32B21B8}">
      <dgm:prSet/>
      <dgm:spPr/>
      <dgm:t>
        <a:bodyPr/>
        <a:lstStyle/>
        <a:p>
          <a:endParaRPr lang="it-IT"/>
        </a:p>
      </dgm:t>
    </dgm:pt>
    <dgm:pt modelId="{C16F0D7E-D26B-4E02-B174-E7E474A3EE42}">
      <dgm:prSet phldrT="[Text]"/>
      <dgm:spPr/>
      <dgm:t>
        <a:bodyPr/>
        <a:lstStyle/>
        <a:p>
          <a:r>
            <a:rPr lang="en-US" dirty="0"/>
            <a:t>Container Instances</a:t>
          </a:r>
          <a:endParaRPr lang="it-IT" dirty="0"/>
        </a:p>
      </dgm:t>
    </dgm:pt>
    <dgm:pt modelId="{E9895A01-8AAD-4862-929E-1EFDFEF53B39}" type="parTrans" cxnId="{3B2EA4CC-C4A2-48BA-A143-D6C988C8ADEC}">
      <dgm:prSet/>
      <dgm:spPr/>
      <dgm:t>
        <a:bodyPr/>
        <a:lstStyle/>
        <a:p>
          <a:endParaRPr lang="it-IT"/>
        </a:p>
      </dgm:t>
    </dgm:pt>
    <dgm:pt modelId="{D94D6349-E56D-4573-B894-10ADB9AB4B3E}" type="sibTrans" cxnId="{3B2EA4CC-C4A2-48BA-A143-D6C988C8ADEC}">
      <dgm:prSet/>
      <dgm:spPr/>
      <dgm:t>
        <a:bodyPr/>
        <a:lstStyle/>
        <a:p>
          <a:endParaRPr lang="it-IT"/>
        </a:p>
      </dgm:t>
    </dgm:pt>
    <dgm:pt modelId="{0303A412-5DB2-411A-9391-310F624A923A}">
      <dgm:prSet phldrT="[Text]"/>
      <dgm:spPr/>
      <dgm:t>
        <a:bodyPr/>
        <a:lstStyle/>
        <a:p>
          <a:r>
            <a:rPr lang="en-US" dirty="0"/>
            <a:t>The low-level serverless unit to run containers</a:t>
          </a:r>
          <a:endParaRPr lang="it-IT" dirty="0"/>
        </a:p>
      </dgm:t>
    </dgm:pt>
    <dgm:pt modelId="{C8078E0F-54A3-43C6-A9EF-2E99A3CD29B5}" type="parTrans" cxnId="{8CDACF37-786C-46FD-B64F-C0367401C100}">
      <dgm:prSet/>
      <dgm:spPr/>
      <dgm:t>
        <a:bodyPr/>
        <a:lstStyle/>
        <a:p>
          <a:endParaRPr lang="it-IT"/>
        </a:p>
      </dgm:t>
    </dgm:pt>
    <dgm:pt modelId="{8B77B3FB-B1B8-4480-B66F-64B5F3DCFA9D}" type="sibTrans" cxnId="{8CDACF37-786C-46FD-B64F-C0367401C100}">
      <dgm:prSet/>
      <dgm:spPr/>
      <dgm:t>
        <a:bodyPr/>
        <a:lstStyle/>
        <a:p>
          <a:endParaRPr lang="it-IT"/>
        </a:p>
      </dgm:t>
    </dgm:pt>
    <dgm:pt modelId="{FE0085EB-1619-4794-9F45-D8321C2BA5DE}">
      <dgm:prSet phldrT="[Text]"/>
      <dgm:spPr/>
      <dgm:t>
        <a:bodyPr/>
        <a:lstStyle/>
        <a:p>
          <a:r>
            <a:rPr lang="en-US" dirty="0"/>
            <a:t>Good to handle spikes of AKS or custom jobs</a:t>
          </a:r>
          <a:endParaRPr lang="it-IT" dirty="0"/>
        </a:p>
      </dgm:t>
    </dgm:pt>
    <dgm:pt modelId="{F3BCBD03-76ED-4C06-8A39-2EBF47A09A42}" type="parTrans" cxnId="{162EB638-508F-4FF9-91FF-118920E74938}">
      <dgm:prSet/>
      <dgm:spPr/>
      <dgm:t>
        <a:bodyPr/>
        <a:lstStyle/>
        <a:p>
          <a:endParaRPr lang="it-IT"/>
        </a:p>
      </dgm:t>
    </dgm:pt>
    <dgm:pt modelId="{E97BEEEC-0631-4B8C-AC90-607114CB8633}" type="sibTrans" cxnId="{162EB638-508F-4FF9-91FF-118920E74938}">
      <dgm:prSet/>
      <dgm:spPr/>
      <dgm:t>
        <a:bodyPr/>
        <a:lstStyle/>
        <a:p>
          <a:endParaRPr lang="it-IT"/>
        </a:p>
      </dgm:t>
    </dgm:pt>
    <dgm:pt modelId="{E841D3CB-985E-4D4E-BE1A-167830521046}">
      <dgm:prSet phldrT="[Text]"/>
      <dgm:spPr/>
      <dgm:t>
        <a:bodyPr/>
        <a:lstStyle/>
        <a:p>
          <a:r>
            <a:rPr lang="en-US" dirty="0"/>
            <a:t>Container Apps</a:t>
          </a:r>
          <a:endParaRPr lang="it-IT" dirty="0"/>
        </a:p>
      </dgm:t>
    </dgm:pt>
    <dgm:pt modelId="{9CE3381F-4A75-4971-9226-4EEA5AEA7ECF}" type="parTrans" cxnId="{61AD19D6-E048-4E30-8536-5A2B6D750C33}">
      <dgm:prSet/>
      <dgm:spPr/>
      <dgm:t>
        <a:bodyPr/>
        <a:lstStyle/>
        <a:p>
          <a:endParaRPr lang="it-IT"/>
        </a:p>
      </dgm:t>
    </dgm:pt>
    <dgm:pt modelId="{C2B8DB94-6EF9-4DA4-B182-0A1EDADE9F84}" type="sibTrans" cxnId="{61AD19D6-E048-4E30-8536-5A2B6D750C33}">
      <dgm:prSet/>
      <dgm:spPr/>
      <dgm:t>
        <a:bodyPr/>
        <a:lstStyle/>
        <a:p>
          <a:endParaRPr lang="it-IT"/>
        </a:p>
      </dgm:t>
    </dgm:pt>
    <dgm:pt modelId="{7EE48ACD-4D4D-4B59-B8B0-8854E0186FA4}">
      <dgm:prSet phldrT="[Text]"/>
      <dgm:spPr/>
      <dgm:t>
        <a:bodyPr/>
        <a:lstStyle/>
        <a:p>
          <a:r>
            <a:rPr lang="en-US" dirty="0"/>
            <a:t>It’s a serverless container solution with steroids</a:t>
          </a:r>
          <a:endParaRPr lang="it-IT" dirty="0"/>
        </a:p>
      </dgm:t>
    </dgm:pt>
    <dgm:pt modelId="{F963EB62-EBC4-4886-A4B8-27AEEC82BA6D}" type="parTrans" cxnId="{D47B406C-FA34-41AF-AC6F-08CDEF6AC581}">
      <dgm:prSet/>
      <dgm:spPr/>
      <dgm:t>
        <a:bodyPr/>
        <a:lstStyle/>
        <a:p>
          <a:endParaRPr lang="it-IT"/>
        </a:p>
      </dgm:t>
    </dgm:pt>
    <dgm:pt modelId="{6CDD00D8-7628-49B9-A5FD-0DE58710A035}" type="sibTrans" cxnId="{D47B406C-FA34-41AF-AC6F-08CDEF6AC581}">
      <dgm:prSet/>
      <dgm:spPr/>
      <dgm:t>
        <a:bodyPr/>
        <a:lstStyle/>
        <a:p>
          <a:endParaRPr lang="it-IT"/>
        </a:p>
      </dgm:t>
    </dgm:pt>
    <dgm:pt modelId="{C8988808-5A20-4576-952C-F938751DF56B}">
      <dgm:prSet phldrT="[Text]"/>
      <dgm:spPr/>
      <dgm:t>
        <a:bodyPr/>
        <a:lstStyle/>
        <a:p>
          <a:r>
            <a:rPr lang="en-US" dirty="0"/>
            <a:t>(with some constraints) Can replace K8s</a:t>
          </a:r>
          <a:endParaRPr lang="it-IT" dirty="0"/>
        </a:p>
      </dgm:t>
    </dgm:pt>
    <dgm:pt modelId="{BEEF4186-7909-4483-A889-B71283CA200D}" type="parTrans" cxnId="{BC104A9D-753C-4C62-B44C-23D10CD52BF7}">
      <dgm:prSet/>
      <dgm:spPr/>
      <dgm:t>
        <a:bodyPr/>
        <a:lstStyle/>
        <a:p>
          <a:endParaRPr lang="it-IT"/>
        </a:p>
      </dgm:t>
    </dgm:pt>
    <dgm:pt modelId="{49F7658C-36A7-49D8-876B-EFDF4500F523}" type="sibTrans" cxnId="{BC104A9D-753C-4C62-B44C-23D10CD52BF7}">
      <dgm:prSet/>
      <dgm:spPr/>
      <dgm:t>
        <a:bodyPr/>
        <a:lstStyle/>
        <a:p>
          <a:endParaRPr lang="it-IT"/>
        </a:p>
      </dgm:t>
    </dgm:pt>
    <dgm:pt modelId="{E37164C7-E93E-4980-B655-816520D0DF0D}">
      <dgm:prSet phldrT="[Text]"/>
      <dgm:spPr/>
      <dgm:t>
        <a:bodyPr/>
        <a:lstStyle/>
        <a:p>
          <a:r>
            <a:rPr lang="en-US" dirty="0"/>
            <a:t>Need to know the specific artifacts</a:t>
          </a:r>
          <a:endParaRPr lang="it-IT" dirty="0"/>
        </a:p>
      </dgm:t>
    </dgm:pt>
    <dgm:pt modelId="{E446E4A1-6DEE-4E12-827D-7EF7D5BB2DD1}" type="parTrans" cxnId="{777AE0D4-533E-44E3-85F0-25E971CE3694}">
      <dgm:prSet/>
      <dgm:spPr/>
      <dgm:t>
        <a:bodyPr/>
        <a:lstStyle/>
        <a:p>
          <a:endParaRPr lang="it-IT"/>
        </a:p>
      </dgm:t>
    </dgm:pt>
    <dgm:pt modelId="{188F0889-E581-48E9-974A-0E568B5D3084}" type="sibTrans" cxnId="{777AE0D4-533E-44E3-85F0-25E971CE3694}">
      <dgm:prSet/>
      <dgm:spPr/>
      <dgm:t>
        <a:bodyPr/>
        <a:lstStyle/>
        <a:p>
          <a:endParaRPr lang="it-IT"/>
        </a:p>
      </dgm:t>
    </dgm:pt>
    <dgm:pt modelId="{D28F75AD-1F70-4DD8-8009-58E05CCBCC75}">
      <dgm:prSet phldrT="[Text]"/>
      <dgm:spPr/>
      <dgm:t>
        <a:bodyPr/>
        <a:lstStyle/>
        <a:p>
          <a:r>
            <a:rPr lang="en-US" dirty="0"/>
            <a:t>Overall TCO could be higher</a:t>
          </a:r>
          <a:endParaRPr lang="it-IT" dirty="0"/>
        </a:p>
      </dgm:t>
    </dgm:pt>
    <dgm:pt modelId="{EF6590B8-D69A-4773-BA34-7661C1606DB1}" type="parTrans" cxnId="{FE4B4E92-32BC-4E4C-B05A-A3E7CED360A2}">
      <dgm:prSet/>
      <dgm:spPr/>
      <dgm:t>
        <a:bodyPr/>
        <a:lstStyle/>
        <a:p>
          <a:endParaRPr lang="it-IT"/>
        </a:p>
      </dgm:t>
    </dgm:pt>
    <dgm:pt modelId="{84BA6FA2-F4FB-4E6A-A60D-3B9896220B5D}" type="sibTrans" cxnId="{FE4B4E92-32BC-4E4C-B05A-A3E7CED360A2}">
      <dgm:prSet/>
      <dgm:spPr/>
      <dgm:t>
        <a:bodyPr/>
        <a:lstStyle/>
        <a:p>
          <a:endParaRPr lang="it-IT"/>
        </a:p>
      </dgm:t>
    </dgm:pt>
    <dgm:pt modelId="{6847D59F-6A83-485E-9000-667D535963B5}">
      <dgm:prSet phldrT="[Text]"/>
      <dgm:spPr/>
      <dgm:t>
        <a:bodyPr/>
        <a:lstStyle/>
        <a:p>
          <a:r>
            <a:rPr lang="en-US" dirty="0"/>
            <a:t>Need to build your own governance process</a:t>
          </a:r>
          <a:endParaRPr lang="it-IT" dirty="0"/>
        </a:p>
      </dgm:t>
    </dgm:pt>
    <dgm:pt modelId="{34F39A2C-DEF1-4179-B430-9EAE9BD600EC}" type="parTrans" cxnId="{0D7F7AC9-714D-4435-8305-04AF1E432726}">
      <dgm:prSet/>
      <dgm:spPr/>
      <dgm:t>
        <a:bodyPr/>
        <a:lstStyle/>
        <a:p>
          <a:endParaRPr lang="it-IT"/>
        </a:p>
      </dgm:t>
    </dgm:pt>
    <dgm:pt modelId="{D17BAD5C-BA21-46C8-BAA1-05FD3349A464}" type="sibTrans" cxnId="{0D7F7AC9-714D-4435-8305-04AF1E432726}">
      <dgm:prSet/>
      <dgm:spPr/>
      <dgm:t>
        <a:bodyPr/>
        <a:lstStyle/>
        <a:p>
          <a:endParaRPr lang="it-IT"/>
        </a:p>
      </dgm:t>
    </dgm:pt>
    <dgm:pt modelId="{1645DCC2-C725-4781-A605-84CCFD96527D}">
      <dgm:prSet phldrT="[Text]"/>
      <dgm:spPr/>
      <dgm:t>
        <a:bodyPr/>
        <a:lstStyle/>
        <a:p>
          <a:r>
            <a:rPr lang="en-US" dirty="0"/>
            <a:t>It implements (but hides) many K8s features</a:t>
          </a:r>
          <a:endParaRPr lang="it-IT" dirty="0"/>
        </a:p>
      </dgm:t>
    </dgm:pt>
    <dgm:pt modelId="{CE9246CA-96AB-4C3B-A449-BE5D80EBCAFC}" type="parTrans" cxnId="{090DF1AF-B969-4807-A160-93E37431BB08}">
      <dgm:prSet/>
      <dgm:spPr/>
      <dgm:t>
        <a:bodyPr/>
        <a:lstStyle/>
        <a:p>
          <a:endParaRPr lang="it-IT"/>
        </a:p>
      </dgm:t>
    </dgm:pt>
    <dgm:pt modelId="{4D706FD2-7827-4080-A9AC-86B94672733F}" type="sibTrans" cxnId="{090DF1AF-B969-4807-A160-93E37431BB08}">
      <dgm:prSet/>
      <dgm:spPr/>
      <dgm:t>
        <a:bodyPr/>
        <a:lstStyle/>
        <a:p>
          <a:endParaRPr lang="it-IT"/>
        </a:p>
      </dgm:t>
    </dgm:pt>
    <dgm:pt modelId="{AE6F607E-CD42-49BD-8CD7-DF30D7FD8B08}" type="pres">
      <dgm:prSet presAssocID="{305596A0-F57C-4368-8363-BDD31CA04119}" presName="Name0" presStyleCnt="0">
        <dgm:presLayoutVars>
          <dgm:dir/>
          <dgm:animLvl val="lvl"/>
          <dgm:resizeHandles val="exact"/>
        </dgm:presLayoutVars>
      </dgm:prSet>
      <dgm:spPr/>
    </dgm:pt>
    <dgm:pt modelId="{FAAF2A9C-D4AD-48A5-8326-10204F57CA65}" type="pres">
      <dgm:prSet presAssocID="{F62FE323-AB27-430C-8F4B-CB98A2ADF993}" presName="composite" presStyleCnt="0"/>
      <dgm:spPr/>
    </dgm:pt>
    <dgm:pt modelId="{667D0FBE-1708-41B4-927B-8E968C856A3D}" type="pres">
      <dgm:prSet presAssocID="{F62FE323-AB27-430C-8F4B-CB98A2ADF99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3E667B-8EF7-4F9D-B2DC-325AF6D0C20E}" type="pres">
      <dgm:prSet presAssocID="{F62FE323-AB27-430C-8F4B-CB98A2ADF993}" presName="desTx" presStyleLbl="alignAccFollowNode1" presStyleIdx="0" presStyleCnt="3">
        <dgm:presLayoutVars>
          <dgm:bulletEnabled val="1"/>
        </dgm:presLayoutVars>
      </dgm:prSet>
      <dgm:spPr/>
    </dgm:pt>
    <dgm:pt modelId="{5DAF50D0-F585-4C3D-A179-EB6B99B95587}" type="pres">
      <dgm:prSet presAssocID="{00C53B40-E2EA-4921-8320-43069E2DFC4F}" presName="space" presStyleCnt="0"/>
      <dgm:spPr/>
    </dgm:pt>
    <dgm:pt modelId="{031918A4-EE48-4804-8FE6-B2FDAFCCF811}" type="pres">
      <dgm:prSet presAssocID="{C16F0D7E-D26B-4E02-B174-E7E474A3EE42}" presName="composite" presStyleCnt="0"/>
      <dgm:spPr/>
    </dgm:pt>
    <dgm:pt modelId="{3790C670-D175-4CA5-8BBC-0E9DDB754022}" type="pres">
      <dgm:prSet presAssocID="{C16F0D7E-D26B-4E02-B174-E7E474A3EE4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2938C32-41DF-472D-A087-EDF15E5F48CF}" type="pres">
      <dgm:prSet presAssocID="{C16F0D7E-D26B-4E02-B174-E7E474A3EE42}" presName="desTx" presStyleLbl="alignAccFollowNode1" presStyleIdx="1" presStyleCnt="3">
        <dgm:presLayoutVars>
          <dgm:bulletEnabled val="1"/>
        </dgm:presLayoutVars>
      </dgm:prSet>
      <dgm:spPr/>
    </dgm:pt>
    <dgm:pt modelId="{5A449540-7B6F-4675-A502-C7AF36D523C8}" type="pres">
      <dgm:prSet presAssocID="{D94D6349-E56D-4573-B894-10ADB9AB4B3E}" presName="space" presStyleCnt="0"/>
      <dgm:spPr/>
    </dgm:pt>
    <dgm:pt modelId="{5ACE6E23-3E49-4EDB-B15E-6B90EBA817C7}" type="pres">
      <dgm:prSet presAssocID="{E841D3CB-985E-4D4E-BE1A-167830521046}" presName="composite" presStyleCnt="0"/>
      <dgm:spPr/>
    </dgm:pt>
    <dgm:pt modelId="{C003F13B-45FD-40D4-9155-333316323D18}" type="pres">
      <dgm:prSet presAssocID="{E841D3CB-985E-4D4E-BE1A-16783052104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D4291AF-5424-41E8-8649-CBEC035B0A0F}" type="pres">
      <dgm:prSet presAssocID="{E841D3CB-985E-4D4E-BE1A-16783052104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D3A1502-070C-40BD-BC7A-0EB94B5E13D7}" type="presOf" srcId="{0303A412-5DB2-411A-9391-310F624A923A}" destId="{52938C32-41DF-472D-A087-EDF15E5F48CF}" srcOrd="0" destOrd="0" presId="urn:microsoft.com/office/officeart/2005/8/layout/hList1"/>
    <dgm:cxn modelId="{795BF10B-9DF2-4CFE-85CA-6436BF40D12E}" type="presOf" srcId="{C16F0D7E-D26B-4E02-B174-E7E474A3EE42}" destId="{3790C670-D175-4CA5-8BBC-0E9DDB754022}" srcOrd="0" destOrd="0" presId="urn:microsoft.com/office/officeart/2005/8/layout/hList1"/>
    <dgm:cxn modelId="{58E17C15-265D-494B-98D3-9FBE8984F431}" type="presOf" srcId="{7EE48ACD-4D4D-4B59-B8B0-8854E0186FA4}" destId="{6D4291AF-5424-41E8-8649-CBEC035B0A0F}" srcOrd="0" destOrd="0" presId="urn:microsoft.com/office/officeart/2005/8/layout/hList1"/>
    <dgm:cxn modelId="{DEE51217-D1A5-4ABD-8377-9B1451D96EA8}" type="presOf" srcId="{305596A0-F57C-4368-8363-BDD31CA04119}" destId="{AE6F607E-CD42-49BD-8CD7-DF30D7FD8B08}" srcOrd="0" destOrd="0" presId="urn:microsoft.com/office/officeart/2005/8/layout/hList1"/>
    <dgm:cxn modelId="{95A4A621-002E-459A-A7D8-B2BD98A685CB}" srcId="{305596A0-F57C-4368-8363-BDD31CA04119}" destId="{F62FE323-AB27-430C-8F4B-CB98A2ADF993}" srcOrd="0" destOrd="0" parTransId="{975E8C9B-22DD-4E15-ACB3-B933A4BFF1E8}" sibTransId="{00C53B40-E2EA-4921-8320-43069E2DFC4F}"/>
    <dgm:cxn modelId="{8CDACF37-786C-46FD-B64F-C0367401C100}" srcId="{C16F0D7E-D26B-4E02-B174-E7E474A3EE42}" destId="{0303A412-5DB2-411A-9391-310F624A923A}" srcOrd="0" destOrd="0" parTransId="{C8078E0F-54A3-43C6-A9EF-2E99A3CD29B5}" sibTransId="{8B77B3FB-B1B8-4480-B66F-64B5F3DCFA9D}"/>
    <dgm:cxn modelId="{162EB638-508F-4FF9-91FF-118920E74938}" srcId="{C16F0D7E-D26B-4E02-B174-E7E474A3EE42}" destId="{FE0085EB-1619-4794-9F45-D8321C2BA5DE}" srcOrd="1" destOrd="0" parTransId="{F3BCBD03-76ED-4C06-8A39-2EBF47A09A42}" sibTransId="{E97BEEEC-0631-4B8C-AC90-607114CB8633}"/>
    <dgm:cxn modelId="{723F4360-843B-4EBF-B2DC-971AB030FD36}" type="presOf" srcId="{6847D59F-6A83-485E-9000-667D535963B5}" destId="{52938C32-41DF-472D-A087-EDF15E5F48CF}" srcOrd="0" destOrd="2" presId="urn:microsoft.com/office/officeart/2005/8/layout/hList1"/>
    <dgm:cxn modelId="{BEC71E6B-1D5C-4056-B1E8-FFF2FE46365E}" type="presOf" srcId="{1645DCC2-C725-4781-A605-84CCFD96527D}" destId="{6D4291AF-5424-41E8-8649-CBEC035B0A0F}" srcOrd="0" destOrd="1" presId="urn:microsoft.com/office/officeart/2005/8/layout/hList1"/>
    <dgm:cxn modelId="{D47B406C-FA34-41AF-AC6F-08CDEF6AC581}" srcId="{E841D3CB-985E-4D4E-BE1A-167830521046}" destId="{7EE48ACD-4D4D-4B59-B8B0-8854E0186FA4}" srcOrd="0" destOrd="0" parTransId="{F963EB62-EBC4-4886-A4B8-27AEEC82BA6D}" sibTransId="{6CDD00D8-7628-49B9-A5FD-0DE58710A035}"/>
    <dgm:cxn modelId="{D2E36183-EDF1-44F5-A00E-308120E86145}" type="presOf" srcId="{E37164C7-E93E-4980-B655-816520D0DF0D}" destId="{133E667B-8EF7-4F9D-B2DC-325AF6D0C20E}" srcOrd="0" destOrd="1" presId="urn:microsoft.com/office/officeart/2005/8/layout/hList1"/>
    <dgm:cxn modelId="{812E5784-0682-4DA2-A423-1554C9B69F26}" type="presOf" srcId="{FE0085EB-1619-4794-9F45-D8321C2BA5DE}" destId="{52938C32-41DF-472D-A087-EDF15E5F48CF}" srcOrd="0" destOrd="1" presId="urn:microsoft.com/office/officeart/2005/8/layout/hList1"/>
    <dgm:cxn modelId="{DDEF438A-97B7-4B93-827E-5224B0B2BBAF}" type="presOf" srcId="{E841D3CB-985E-4D4E-BE1A-167830521046}" destId="{C003F13B-45FD-40D4-9155-333316323D18}" srcOrd="0" destOrd="0" presId="urn:microsoft.com/office/officeart/2005/8/layout/hList1"/>
    <dgm:cxn modelId="{FE4B4E92-32BC-4E4C-B05A-A3E7CED360A2}" srcId="{F62FE323-AB27-430C-8F4B-CB98A2ADF993}" destId="{D28F75AD-1F70-4DD8-8009-58E05CCBCC75}" srcOrd="2" destOrd="0" parTransId="{EF6590B8-D69A-4773-BA34-7661C1606DB1}" sibTransId="{84BA6FA2-F4FB-4E6A-A60D-3B9896220B5D}"/>
    <dgm:cxn modelId="{9229E298-487A-4F3C-A224-ADBCB32B21B8}" srcId="{F62FE323-AB27-430C-8F4B-CB98A2ADF993}" destId="{0C28CA36-BB1B-4F85-B204-F1E3CA662BA6}" srcOrd="0" destOrd="0" parTransId="{66A9F54F-B760-4C90-B7C4-6E970666967C}" sibTransId="{15F8597B-5E37-48C5-B037-36DFDF0940CA}"/>
    <dgm:cxn modelId="{BC104A9D-753C-4C62-B44C-23D10CD52BF7}" srcId="{E841D3CB-985E-4D4E-BE1A-167830521046}" destId="{C8988808-5A20-4576-952C-F938751DF56B}" srcOrd="2" destOrd="0" parTransId="{BEEF4186-7909-4483-A889-B71283CA200D}" sibTransId="{49F7658C-36A7-49D8-876B-EFDF4500F523}"/>
    <dgm:cxn modelId="{7466D4AD-AEB9-4227-A537-1139D90F5E59}" type="presOf" srcId="{D28F75AD-1F70-4DD8-8009-58E05CCBCC75}" destId="{133E667B-8EF7-4F9D-B2DC-325AF6D0C20E}" srcOrd="0" destOrd="2" presId="urn:microsoft.com/office/officeart/2005/8/layout/hList1"/>
    <dgm:cxn modelId="{090DF1AF-B969-4807-A160-93E37431BB08}" srcId="{E841D3CB-985E-4D4E-BE1A-167830521046}" destId="{1645DCC2-C725-4781-A605-84CCFD96527D}" srcOrd="1" destOrd="0" parTransId="{CE9246CA-96AB-4C3B-A449-BE5D80EBCAFC}" sibTransId="{4D706FD2-7827-4080-A9AC-86B94672733F}"/>
    <dgm:cxn modelId="{A3FD49BE-D814-4616-9D76-F6BDF4159407}" type="presOf" srcId="{C8988808-5A20-4576-952C-F938751DF56B}" destId="{6D4291AF-5424-41E8-8649-CBEC035B0A0F}" srcOrd="0" destOrd="2" presId="urn:microsoft.com/office/officeart/2005/8/layout/hList1"/>
    <dgm:cxn modelId="{0D7F7AC9-714D-4435-8305-04AF1E432726}" srcId="{C16F0D7E-D26B-4E02-B174-E7E474A3EE42}" destId="{6847D59F-6A83-485E-9000-667D535963B5}" srcOrd="2" destOrd="0" parTransId="{34F39A2C-DEF1-4179-B430-9EAE9BD600EC}" sibTransId="{D17BAD5C-BA21-46C8-BAA1-05FD3349A464}"/>
    <dgm:cxn modelId="{3B2EA4CC-C4A2-48BA-A143-D6C988C8ADEC}" srcId="{305596A0-F57C-4368-8363-BDD31CA04119}" destId="{C16F0D7E-D26B-4E02-B174-E7E474A3EE42}" srcOrd="1" destOrd="0" parTransId="{E9895A01-8AAD-4862-929E-1EFDFEF53B39}" sibTransId="{D94D6349-E56D-4573-B894-10ADB9AB4B3E}"/>
    <dgm:cxn modelId="{9E403DD3-5121-470A-B83A-C3DBEFB17313}" type="presOf" srcId="{0C28CA36-BB1B-4F85-B204-F1E3CA662BA6}" destId="{133E667B-8EF7-4F9D-B2DC-325AF6D0C20E}" srcOrd="0" destOrd="0" presId="urn:microsoft.com/office/officeart/2005/8/layout/hList1"/>
    <dgm:cxn modelId="{777AE0D4-533E-44E3-85F0-25E971CE3694}" srcId="{F62FE323-AB27-430C-8F4B-CB98A2ADF993}" destId="{E37164C7-E93E-4980-B655-816520D0DF0D}" srcOrd="1" destOrd="0" parTransId="{E446E4A1-6DEE-4E12-827D-7EF7D5BB2DD1}" sibTransId="{188F0889-E581-48E9-974A-0E568B5D3084}"/>
    <dgm:cxn modelId="{A2FC4ED5-B933-498B-862E-5294B06ADCC9}" type="presOf" srcId="{F62FE323-AB27-430C-8F4B-CB98A2ADF993}" destId="{667D0FBE-1708-41B4-927B-8E968C856A3D}" srcOrd="0" destOrd="0" presId="urn:microsoft.com/office/officeart/2005/8/layout/hList1"/>
    <dgm:cxn modelId="{61AD19D6-E048-4E30-8536-5A2B6D750C33}" srcId="{305596A0-F57C-4368-8363-BDD31CA04119}" destId="{E841D3CB-985E-4D4E-BE1A-167830521046}" srcOrd="2" destOrd="0" parTransId="{9CE3381F-4A75-4971-9226-4EEA5AEA7ECF}" sibTransId="{C2B8DB94-6EF9-4DA4-B182-0A1EDADE9F84}"/>
    <dgm:cxn modelId="{4C3CD255-1463-468C-9294-AE80A328B050}" type="presParOf" srcId="{AE6F607E-CD42-49BD-8CD7-DF30D7FD8B08}" destId="{FAAF2A9C-D4AD-48A5-8326-10204F57CA65}" srcOrd="0" destOrd="0" presId="urn:microsoft.com/office/officeart/2005/8/layout/hList1"/>
    <dgm:cxn modelId="{7523F813-1E02-4DC3-8C2B-66BB13FA5C1A}" type="presParOf" srcId="{FAAF2A9C-D4AD-48A5-8326-10204F57CA65}" destId="{667D0FBE-1708-41B4-927B-8E968C856A3D}" srcOrd="0" destOrd="0" presId="urn:microsoft.com/office/officeart/2005/8/layout/hList1"/>
    <dgm:cxn modelId="{AC476986-8541-40F9-BEA4-7EDA1ED6C84C}" type="presParOf" srcId="{FAAF2A9C-D4AD-48A5-8326-10204F57CA65}" destId="{133E667B-8EF7-4F9D-B2DC-325AF6D0C20E}" srcOrd="1" destOrd="0" presId="urn:microsoft.com/office/officeart/2005/8/layout/hList1"/>
    <dgm:cxn modelId="{E47A68E8-3E81-47F7-8F3F-4BDC3A1625DE}" type="presParOf" srcId="{AE6F607E-CD42-49BD-8CD7-DF30D7FD8B08}" destId="{5DAF50D0-F585-4C3D-A179-EB6B99B95587}" srcOrd="1" destOrd="0" presId="urn:microsoft.com/office/officeart/2005/8/layout/hList1"/>
    <dgm:cxn modelId="{5C914DAC-1678-44E5-8D2A-9068A4322584}" type="presParOf" srcId="{AE6F607E-CD42-49BD-8CD7-DF30D7FD8B08}" destId="{031918A4-EE48-4804-8FE6-B2FDAFCCF811}" srcOrd="2" destOrd="0" presId="urn:microsoft.com/office/officeart/2005/8/layout/hList1"/>
    <dgm:cxn modelId="{EBDC48DB-51F1-4C47-B1F8-2A0E416DE6DF}" type="presParOf" srcId="{031918A4-EE48-4804-8FE6-B2FDAFCCF811}" destId="{3790C670-D175-4CA5-8BBC-0E9DDB754022}" srcOrd="0" destOrd="0" presId="urn:microsoft.com/office/officeart/2005/8/layout/hList1"/>
    <dgm:cxn modelId="{F9499793-D5C7-4FBA-96C9-6710ACCB2668}" type="presParOf" srcId="{031918A4-EE48-4804-8FE6-B2FDAFCCF811}" destId="{52938C32-41DF-472D-A087-EDF15E5F48CF}" srcOrd="1" destOrd="0" presId="urn:microsoft.com/office/officeart/2005/8/layout/hList1"/>
    <dgm:cxn modelId="{390051BF-7384-43FE-97D9-E5C7F636B322}" type="presParOf" srcId="{AE6F607E-CD42-49BD-8CD7-DF30D7FD8B08}" destId="{5A449540-7B6F-4675-A502-C7AF36D523C8}" srcOrd="3" destOrd="0" presId="urn:microsoft.com/office/officeart/2005/8/layout/hList1"/>
    <dgm:cxn modelId="{A2B230DF-03A7-4B7B-9839-E630430063C7}" type="presParOf" srcId="{AE6F607E-CD42-49BD-8CD7-DF30D7FD8B08}" destId="{5ACE6E23-3E49-4EDB-B15E-6B90EBA817C7}" srcOrd="4" destOrd="0" presId="urn:microsoft.com/office/officeart/2005/8/layout/hList1"/>
    <dgm:cxn modelId="{4F07E1B1-2200-4B0E-A2AC-34891540AF4A}" type="presParOf" srcId="{5ACE6E23-3E49-4EDB-B15E-6B90EBA817C7}" destId="{C003F13B-45FD-40D4-9155-333316323D18}" srcOrd="0" destOrd="0" presId="urn:microsoft.com/office/officeart/2005/8/layout/hList1"/>
    <dgm:cxn modelId="{B35675D8-CEBE-41A1-912C-CEBACB77D937}" type="presParOf" srcId="{5ACE6E23-3E49-4EDB-B15E-6B90EBA817C7}" destId="{6D4291AF-5424-41E8-8649-CBEC035B0A0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D0FBE-1708-41B4-927B-8E968C856A3D}">
      <dsp:nvSpPr>
        <dsp:cNvPr id="0" name=""/>
        <dsp:cNvSpPr/>
      </dsp:nvSpPr>
      <dsp:spPr>
        <a:xfrm>
          <a:off x="3286" y="69837"/>
          <a:ext cx="3203971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Kubernetes</a:t>
          </a:r>
          <a:endParaRPr lang="it-IT" sz="2400" kern="1200" dirty="0"/>
        </a:p>
      </dsp:txBody>
      <dsp:txXfrm>
        <a:off x="3286" y="69837"/>
        <a:ext cx="3203971" cy="691200"/>
      </dsp:txXfrm>
    </dsp:sp>
    <dsp:sp modelId="{133E667B-8EF7-4F9D-B2DC-325AF6D0C20E}">
      <dsp:nvSpPr>
        <dsp:cNvPr id="0" name=""/>
        <dsp:cNvSpPr/>
      </dsp:nvSpPr>
      <dsp:spPr>
        <a:xfrm>
          <a:off x="3286" y="761037"/>
          <a:ext cx="3203971" cy="3520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Need to manage despite it’s PaaS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Need to know the specific artifacts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Overall TCO could be higher</a:t>
          </a:r>
          <a:endParaRPr lang="it-IT" sz="2400" kern="1200" dirty="0"/>
        </a:p>
      </dsp:txBody>
      <dsp:txXfrm>
        <a:off x="3286" y="761037"/>
        <a:ext cx="3203971" cy="3520462"/>
      </dsp:txXfrm>
    </dsp:sp>
    <dsp:sp modelId="{3790C670-D175-4CA5-8BBC-0E9DDB754022}">
      <dsp:nvSpPr>
        <dsp:cNvPr id="0" name=""/>
        <dsp:cNvSpPr/>
      </dsp:nvSpPr>
      <dsp:spPr>
        <a:xfrm>
          <a:off x="3655814" y="69837"/>
          <a:ext cx="3203971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Container Instances</a:t>
          </a:r>
          <a:endParaRPr lang="it-IT" sz="2400" kern="1200" dirty="0"/>
        </a:p>
      </dsp:txBody>
      <dsp:txXfrm>
        <a:off x="3655814" y="69837"/>
        <a:ext cx="3203971" cy="691200"/>
      </dsp:txXfrm>
    </dsp:sp>
    <dsp:sp modelId="{52938C32-41DF-472D-A087-EDF15E5F48CF}">
      <dsp:nvSpPr>
        <dsp:cNvPr id="0" name=""/>
        <dsp:cNvSpPr/>
      </dsp:nvSpPr>
      <dsp:spPr>
        <a:xfrm>
          <a:off x="3655814" y="761037"/>
          <a:ext cx="3203971" cy="3520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The low-level serverless unit to run containers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Good to handle spikes of AKS or custom jobs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Need to build your own governance process</a:t>
          </a:r>
          <a:endParaRPr lang="it-IT" sz="2400" kern="1200" dirty="0"/>
        </a:p>
      </dsp:txBody>
      <dsp:txXfrm>
        <a:off x="3655814" y="761037"/>
        <a:ext cx="3203971" cy="3520462"/>
      </dsp:txXfrm>
    </dsp:sp>
    <dsp:sp modelId="{C003F13B-45FD-40D4-9155-333316323D18}">
      <dsp:nvSpPr>
        <dsp:cNvPr id="0" name=""/>
        <dsp:cNvSpPr/>
      </dsp:nvSpPr>
      <dsp:spPr>
        <a:xfrm>
          <a:off x="7308342" y="69837"/>
          <a:ext cx="3203971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Container Apps</a:t>
          </a:r>
          <a:endParaRPr lang="it-IT" sz="2400" kern="1200" dirty="0"/>
        </a:p>
      </dsp:txBody>
      <dsp:txXfrm>
        <a:off x="7308342" y="69837"/>
        <a:ext cx="3203971" cy="691200"/>
      </dsp:txXfrm>
    </dsp:sp>
    <dsp:sp modelId="{6D4291AF-5424-41E8-8649-CBEC035B0A0F}">
      <dsp:nvSpPr>
        <dsp:cNvPr id="0" name=""/>
        <dsp:cNvSpPr/>
      </dsp:nvSpPr>
      <dsp:spPr>
        <a:xfrm>
          <a:off x="7308342" y="761037"/>
          <a:ext cx="3203971" cy="3520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It’s a serverless container solution with steroids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It implements (but hides) many K8s features</a:t>
          </a:r>
          <a:endParaRPr lang="it-IT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(with some constraints) Can replace K8s</a:t>
          </a:r>
          <a:endParaRPr lang="it-IT" sz="2400" kern="1200" dirty="0"/>
        </a:p>
      </dsp:txBody>
      <dsp:txXfrm>
        <a:off x="7308342" y="761037"/>
        <a:ext cx="3203971" cy="352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308272-5835-4EF2-8338-4CF3D53B7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D70D03-0EAB-43BF-BC9B-B89C41E39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8C0DD-40C9-477F-B05E-5EB02AF57936}" type="datetimeFigureOut">
              <a:rPr lang="it-IT" smtClean="0"/>
              <a:t>26/11/2024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71C9173-1813-4DF2-954A-714D86A4F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023069-8468-492F-A353-6A444E3786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818A0-23B7-4482-A80D-B506842765D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81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7T14:48:02.9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0 703,'4'-6,"0"-1,1 1,0 0,0 0,0 1,1-1,0 1,0 0,0 1,0-1,8-3,14-7,41-15,-60 27,122-45,3 6,184-34,287-18,-554 88,1541-147,-385 125,2 31,815-15,-1644-1,388-16,-722 28,-1-2,0-2,61-15,-104 19,0 1,1 0,-1-1,0 1,0-1,0 0,0 0,0 0,0 0,-1 0,1 0,0 0,0-1,-1 1,1 0,-1-1,1 0,1-2,-3 4,0-1,0 1,0-1,-1 0,1 1,0-1,-1 1,1-1,0 1,-1-1,1 1,0 0,-1-1,1 1,-1-1,1 1,0 0,-1-1,1 1,-1 0,1 0,-1-1,-1 1,-30-10,-33 2,-1 3,0 2,-72 7,125-4,-294 16,-82 17,-1193 153,1 49,460-42,-582 84,1397-229,137-18,-230 9,18-38,639-9,48-10,109-3,95 2,94 3,88 6,1658 0,-1120 8,-772-2,-139-2,-131 0,-124 1,-124 1,-120 2,-102 1,-88 0,-194-1,-1277 17,653 72,879-44,-543 148,739-157,-210 59,216-67,-114 12,-83 18,294-52,16-2,41-2,97-9,92-8,110-20,96-19,86-16,78-16,163-23,1624-230,-1968 284,-111 9,16-11,-317 59,-24 7,-38 15,-524 176,-11-29,262-78,-1523 392,217-190,-6-109,1570-178,-327 42,351-41,-53 17,87-23,1 1,-1 0,1 0,0 1,0 0,0-1,0 2,0-1,-6 5,11-7,0-1,-1 1,1-1,0 1,-1 0,1-1,0 1,0-1,0 1,0-1,-1 1,1 0,0-1,0 1,0 0,0-1,0 1,0-1,0 1,0 0,1-1,-1 1,0-1,0 1,0 0,1-1,-1 1,0-1,1 1,-1-1,0 1,2 0,1 1,0 1,0-1,0 1,1-1,-1 0,1 0,0-1,7 3,34 9,80 12,207 20,159-2,146-8,130-11,94-8,3570-7,-3966-11,-20 1,-131 0,-241 1,163-7,-198-1,-38 8,1 0,-1 0,0 0,0 0,1 0,-1 0,0 0,0-1,1 1,-1 0,0 0,0 0,1-1,-1 1,0 0,0 0,0-1,0 1,1 0,-1 0,0-1,0 1,0 0,0 0,0-1,0 1,0 0,0-1,0 1,0 0,0-1,-12-10,-6 3,0 1,0 1,-1 0,0 2,-34-5,24 5,-518-55,-17 39,538 19,-2575-10,1527 15,1031-4,-717-19,-525-126,1045 113,-384-32,507 56,109 7,2 1,-1-1,0 0,1 0,-1-1,-8-2,15 4,-1-1,1 1,-1 0,1 0,0 0,-1-1,1 1,-1 0,1-1,0 1,-1 0,1-1,0 1,-1 0,1-1,0 1,0-1,0 1,-1 0,1-1,0 1,0-1,0 1,0-1,0 1,0-1,0 1,0-1,0 1,0-1,0 0,1 0,0-1,0 0,0 1,0-1,0 0,0 1,1 0,-1-1,1 1,-1 0,1-1,2 0,30-19,43-19,133-55,91-32,75-19,857-263,17 50,-1239 356,752-199,-3 48,-612 133,243-5,-371 26,-10-1,1 1,0 0,-1 1,1 0,-1 0,1 1,-1 1,20 6,-29-8,1 0,-1-1,0 1,0 0,1 0,-1 0,0 0,0 0,0 0,0 0,0 0,0 0,-1 1,1-1,0 0,0 1,-1-1,1 0,-1 1,1-1,-1 1,0-1,0 0,0 1,0 2,0-1,-1 0,1 0,-1 0,0 0,0 0,-1 0,1-1,-1 1,1 0,-1-1,0 1,-2 2,-4 3,0 0,0-1,0 0,-1-1,1 0,-16 8,-69 28,81-38,-414 147,-19-22,103-31,-1006 366,1293-442,-1028 391,899-354,57-20,-156 71,258-98,1 2,-31 20,45-26,1 0,-1 0,2 1,-1 0,1 0,0 1,-8 13,16-22,-4 7,-1 0,1 0,-1 0,0-1,-1 0,0 0,0 0,-1-1,0 0,0 0,0-1,-12 7,3-4,14-7,0-1,-1 1,1 0,0 0,1 0,-1 0,0 0,0 1,0-1,-2 3,13 1,23-3,179-6,-94 1,195-4,110 1,109 1,1722-3,-1893 4,-295 2,274-16,-328 16,1 0,-1 0,0-1,19-7,-29 10,0-1,0 1,1-1,-1 1,0-1,0 0,0 0,0 1,1-1,-1 0,0 0,-1 0,1 0,0 0,0-1,0 1,-1 0,1 0,0 0,-1-1,1 1,-1 0,0-1,1 1,-1 0,0-2,0 0,-1 1,1 0,-1-1,0 1,0 0,0 0,0-1,0 1,-1 0,1 0,0 0,-1 1,-2-4,-5-3,0 1,0-1,0 2,-20-12,-22-4,-1 2,-92-22,83 25,-128-37,-282-71,-93 13,-967-65,1473 172,40 3,-1 1,1 0,-1 1,1 1,-27 4,37 0,12 0,17 5,-19-9,77 26,2-3,0-3,96 11,260 7,-428-38,363 18,972 9,5-31,-814 1,-243 1,-180 1,109-3,-201 1,-27-2,-50-6,-83-6,80 11,-1026-53,-13 53,877 6,-1757 2,1898-3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09:34:40.6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753 4,'701'39,"-249"-7,810 61,-855-49,1607 142,-634-171,-506-19,-646 8,792 7,-1-41,-748 11,723-16,-674 66,16 1,57-32,-870-47,173 12,-857-31,930 57,-1208-17,0 41,117 0,1208-15,-556-2,3-33,-421-88,589 62,346 45,-188 4,338 12,8 0,20 1,44 0,806 58,-581-32,415 43,753 48,493-111,-1745-9,1240-62,0-63,-658 74,-1 78,-719-19,467 55,-365-39,88 15,-219-25,-42-12,-1 1,0-1,1 0,-1 0,0 0,1 0,-1 0,0 1,0-1,1 0,-1 0,0 1,0-1,0 0,1 0,-1 1,0-1,0 0,0 0,0 1,1-1,-1 0,0 1,0-1,0 0,0 1,0-1,0 0,0 1,0-1,0 0,0 1,0-1,0 0,0 1,0-1,-1 0,1 0,0 1,0-1,0 0,0 1,0-1,-1 0,1 0,0 1,0-1,-1 0,1 0,0 0,0 1,-1-1,1 0,0 0,0 0,-1 0,1 1,0-1,-1 0,1 0,-1 0,-13 6,0 0,0-1,-1 0,0-1,0-1,0 0,-17 0,1 2,-429 36,-17-29,426-11,-1501 5,-601 14,625 37,-105 4,-353 65,401-56,1581-70,-86-2,-1 3,-138 21,-170 25,184-27,177-12,27-1,25-1,51 2,0-3,105-4,-56-3,2301-35,-61-22,-695-12,599-14,-2035 86,993 9,-11 54,-127-7,74-61,-1092 5,-37 5,-31 3,-40 7,-139 20,-313 21,312-41,-274 27,-1150 98,1587-139,-1923 101,-465-105,1856-7,-575 1,578 27,-26 1,0-33,-503-8,-945 66,1978-46,-89 13,116-6,36-2,49 1,1704-49,1455-27,-2647 75,1572 21,-1581-4,1235 125,-954-66,-654-59,203 50,-329-60,84 5,-133-15,-434-5,269 6,-841 12,-512 3,-1850 74,1842-57,1410-33,-437 27,103-2,-56-1,41 0,-164-49,97-1,491 25,45 1,559 28,-282-9,1425 25,10-61,-365 1,1157 14,-849 83,-647-40,-916-40,0 5,124 24,-201-23,-36-8,0 0,1 0,-1 0,0 0,0 0,0 0,0 0,1 0,-1 0,0 0,0 0,0 0,0 0,1 0,-1 0,0 0,0 0,0 0,0 0,0 0,1 0,-1 0,0 0,0 1,0-1,0 0,0 0,0 0,1 0,-1 0,0 0,0 1,0-1,0 0,0 0,0 0,0 0,0 1,0-1,0 0,0 0,0 0,0 0,0 1,0-1,0 0,0 0,0 0,0 0,0 1,0-1,0 0,0 0,0 0,0 0,0 0,0 1,0-1,-1 0,1 0,0 0,0 0,-16 8,-27 2,-564 45,416-41,-1580 95,1237-78,-1170 37,-6-36,1529-30,-1060-3,5-60,-389-115,1014 103,498 60,-649-92,560 61,-45-8,198 44,-1 2,-93 3,169 3,0 2,0 1,29 7,15 2,1849 206,-1750-205,1632 99,-75-51,1587-53,-2344-57,-259 11,-409 25,919-72,-1187 81,50-14,-71 15,-1-1,1-1,-1 0,-1 0,1-1,-1 0,15-12,-4 2,40-22,-24 16,-37 21,1 1,0 0,0-1,-1 1,1-1,0 1,0-1,-1 1,1-1,-1 0,1 1,0-1,-1 0,1 1,-1-1,0 0,1 0,-1 1,1-1,-1-1,-12-4,-38 5,46 1,-168 16,-202 45,72-8,-409 9,-6-49,342-10,-3880 16,3191-34,-392-2,1306 17,-1069-34,880 10,-349 22,653 4,-1 1,-52 12,69-10,0 1,1 0,0 2,0 0,0 1,-19 14,-22 11,-1-3,-2-3,-122 39,159-58,-1-2,1-1,-1-1,0-1,0-1,-1-1,1-2,-28-2,97 4,-36-3,0 1,0 0,0 1,0-1,0 2,0-1,0 1,0 0,8 3,-4 0,28 15,0-3,1-1,53 13,192 29,399 29,294-68,745-27,1032 25,-925-120,-10-127,-721 116,-282 35,-203 15,1 38,-462 29,-151-3,0-1,-1 1,1 1,0-1,0 0,-1 0,1 1,-1-1,1 0,0 1,-1 0,1-1,-1 1,1 0,-1 0,1 0,1 2,-3-3,0 1,0 0,0-1,0 1,0 0,0-1,0 1,0 0,0-1,-1 1,1 0,0-1,0 1,-1 0,1-1,0 1,-1-1,1 1,0-1,-1 1,1 0,-1-1,1 0,-1 1,1-1,-1 1,0 0,-8 5,1-1,-1 1,0-1,-14 5,-57 16,-1-3,-133 19,178-36,-822 91,518-67,-1607 158,1520-151,-338 20,-288 23,3 35,732-79,-502-5,480-36,-965-27,254-55,63 3,813 77,-244-18,346 16,0-3,1-3,-112-38,143 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7T14:50:36.7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534 295,'7'-2,"1"0,-1 0,1 0,15-1,5 1,297-37,1202-118,133 98,1 64,-1417-9,-195-2,-57 2,-35 1,-130-3,-112 2,-93 1,75 2,-1558 6,1568 4,239-7,-64 2,-201 32,292-29,-1 0,2 2,-1 2,-42 22,29-13,16-10,1-1,-1-1,-1-2,-40 7,-107 4,127-13,-311 12,176-10,110 0,68-6,1 0,-1 1,1-1,-1 0,1 0,-1 1,1-1,-1 1,1-1,0 1,-1 0,1-1,0 1,-1 0,1 0,0 0,0 0,-1 2,2-2,0 0,1 0,-1 0,0 0,1 0,0 0,-1 0,1 0,-1 0,1 0,0-1,0 1,0 0,-1 0,1-1,0 1,0 0,0-1,0 1,0-1,0 1,0-1,0 1,3-1,27 13,1-1,0-2,35 5,-26-5,217 45,400 32,828 88,-555-50,-700-90,-86-5,-141-29,0 0,-1 0,1 0,-1 0,1 1,-1 0,1-1,4 5,-8-6,0 0,0 1,0-1,0 0,0 1,0-1,0 1,0-1,0 0,0 1,0-1,0 0,0 1,0-1,0 0,0 1,0-1,-1 0,1 1,0-1,0 0,0 0,-1 1,1-1,0 0,0 0,-1 1,1-1,0 0,0 0,-1 1,1-1,0 0,-1 0,1 0,0 0,-1 0,1 0,0 0,-1 1,1-1,0 0,-1 0,1 0,0 0,-1 0,0-1,-19 5,-1 0,-23-1,-177 6,-101-5,-2161-6,793-3,1634 5,-56 1,104 1,14 1,24 2,0-1,45 0,-30-3,1358 14,-997-16,1405 0,-1521-8,-230 4,-1-3,103-28,90-46,-98 30,165-33,239 17,3 48,249 21,-910 2,-817-1,-93 0,835 2,-220 35,-289 31,-1-50,127-21,-94 1,606 0,18-1,1 1,-1 1,1 2,0 1,-48 12,67-12,0-1,0 2,0-1,1 1,-1 0,1 0,1 1,-1 0,1 0,-1 1,2-1,-1 1,-8 15,-1 6,0 1,-15 45,11-24,3-14,-2 0,-2 0,0-2,-31 37,49-69,-57 83,53-77,2 0,-1 1,2 0,-1 0,1 0,0 0,1 1,-2 13,4-20,-1 0,1 0,1-1,-1 1,0 0,1-1,-1 1,1-1,0 1,0 0,0-1,0 0,0 1,0-1,1 0,-1 1,1-1,0 0,0 0,0 0,0 0,0-1,0 1,4 2,1 0,1-1,0 1,1-1,-1-1,1 1,13 1,55 5,0-3,103-5,-88-2,776-38,319-136,-1054 152,176-8,135 23,-142 12,394-4,-668 0,0-2,-1-1,0-2,0 0,0-2,0-1,-1-1,-1-1,1-1,-2-2,43-27,-32 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0B5EC-8458-4BBA-B9B8-D0FBEA2CFC1E}" type="datetimeFigureOut">
              <a:rPr lang="it-IT" smtClean="0"/>
              <a:t>26/11/2024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2DD78-F36F-4CED-8AB8-7EDB06BE60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23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443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file</a:t>
            </a:r>
          </a:p>
          <a:p>
            <a:r>
              <a:rPr lang="en-US" dirty="0"/>
              <a:t>I'm attaching a file and you read it. I want you to help me understanding the contents by summarizing it.</a:t>
            </a:r>
          </a:p>
          <a:p>
            <a:r>
              <a:rPr lang="en-US" dirty="0"/>
              <a:t>I want the result as {{style: bullets, sentences}}. If you ask me if use some bold/italic/underline styles to emphasize? I would say {{emphasis: yes , no}}.</a:t>
            </a:r>
          </a:p>
          <a:p>
            <a:r>
              <a:rPr lang="en-US" dirty="0"/>
              <a:t>Use {{language}} for the output.</a:t>
            </a:r>
          </a:p>
          <a:p>
            <a:r>
              <a:rPr lang="en-US" dirty="0"/>
              <a:t>Be {{</a:t>
            </a:r>
            <a:r>
              <a:rPr lang="en-US" dirty="0" err="1"/>
              <a:t>lenght</a:t>
            </a:r>
            <a:r>
              <a:rPr lang="en-US"/>
              <a:t>: short, wordy, verbose}}.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A404D-FE34-4539-B996-9D7E21D20AB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742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Budget – 5min</a:t>
            </a:r>
          </a:p>
          <a:p>
            <a:pPr marL="171450" indent="-171450">
              <a:buFontTx/>
              <a:buChar char="-"/>
            </a:pPr>
            <a:r>
              <a:rPr lang="it-IT" dirty="0"/>
              <a:t>How to read this quadrant and how’s made</a:t>
            </a:r>
          </a:p>
          <a:p>
            <a:pPr marL="171450" indent="-171450">
              <a:buFontTx/>
              <a:buChar char="-"/>
            </a:pPr>
            <a:r>
              <a:rPr lang="it-IT" dirty="0"/>
              <a:t>Information is accurate but personal</a:t>
            </a:r>
          </a:p>
          <a:p>
            <a:pPr marL="171450" indent="-171450">
              <a:buFontTx/>
              <a:buChar char="-"/>
            </a:pPr>
            <a:r>
              <a:rPr lang="it-IT" dirty="0"/>
              <a:t>Scale may depends on soft or hard limits of the platform</a:t>
            </a:r>
          </a:p>
          <a:p>
            <a:pPr marL="171450" indent="-171450">
              <a:buFontTx/>
              <a:buChar char="-"/>
            </a:pPr>
            <a:r>
              <a:rPr lang="it-IT" dirty="0"/>
              <a:t>Examples of soft and hard limits</a:t>
            </a:r>
          </a:p>
          <a:p>
            <a:pPr marL="171450" indent="-171450">
              <a:buFontTx/>
              <a:buChar char="-"/>
            </a:pPr>
            <a:r>
              <a:rPr lang="it-IT" dirty="0"/>
              <a:t>Ease of management can be the degree of interest we need to have to the underlying infrastructure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either the lock-in aspect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the industry-standard adherence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15160-3AAF-456F-AB5B-312D1F16E8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9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Budget – 5min</a:t>
            </a:r>
          </a:p>
          <a:p>
            <a:pPr marL="171450" indent="-171450">
              <a:buFontTx/>
              <a:buChar char="-"/>
            </a:pPr>
            <a:r>
              <a:rPr lang="it-IT" dirty="0"/>
              <a:t>How to read this quadrant and how’s made</a:t>
            </a:r>
          </a:p>
          <a:p>
            <a:pPr marL="171450" indent="-171450">
              <a:buFontTx/>
              <a:buChar char="-"/>
            </a:pPr>
            <a:r>
              <a:rPr lang="it-IT" dirty="0"/>
              <a:t>Information is accurate but personal</a:t>
            </a:r>
          </a:p>
          <a:p>
            <a:pPr marL="171450" indent="-171450">
              <a:buFontTx/>
              <a:buChar char="-"/>
            </a:pPr>
            <a:r>
              <a:rPr lang="it-IT" dirty="0"/>
              <a:t>Scale may depends on soft or hard limits of the platform</a:t>
            </a:r>
          </a:p>
          <a:p>
            <a:pPr marL="171450" indent="-171450">
              <a:buFontTx/>
              <a:buChar char="-"/>
            </a:pPr>
            <a:r>
              <a:rPr lang="it-IT" dirty="0"/>
              <a:t>Examples of soft and hard limits</a:t>
            </a:r>
          </a:p>
          <a:p>
            <a:pPr marL="171450" indent="-171450">
              <a:buFontTx/>
              <a:buChar char="-"/>
            </a:pPr>
            <a:r>
              <a:rPr lang="it-IT" dirty="0"/>
              <a:t>Ease of management can be the degree of interest we need to have to the underlying infrastructure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either the lock-in aspect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the industry-standard adherence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15160-3AAF-456F-AB5B-312D1F16E8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03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20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8">
            <a:extLst>
              <a:ext uri="{FF2B5EF4-FFF2-40B4-BE49-F238E27FC236}">
                <a16:creationId xmlns:a16="http://schemas.microsoft.com/office/drawing/2014/main" id="{A48C504F-35E4-295E-72FE-89D1137D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CAD2E1B-4244-191D-2E3E-3AB91404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1551DDC-E4CF-20DE-4267-814486A1D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4698" y="1065452"/>
            <a:ext cx="11522604" cy="5094048"/>
          </a:xfrm>
          <a:prstGeom prst="roundRect">
            <a:avLst>
              <a:gd name="adj" fmla="val 151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4A656C2-30FB-3EC9-6D74-3CC0317C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55" y="436032"/>
            <a:ext cx="1359931" cy="196326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62027079-02FD-4F05-4E93-75CB00FDC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42911" y="3765266"/>
            <a:ext cx="5179828" cy="1437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D2716"/>
              </a:buClr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930560E-29ED-04BA-867A-8AF80FF56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639" y="238362"/>
            <a:ext cx="1916565" cy="58872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62708E9-FCE8-78CB-19BE-C7D4E8D89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55567" r="8788" b="2609"/>
          <a:stretch/>
        </p:blipFill>
        <p:spPr>
          <a:xfrm flipV="1">
            <a:off x="4470400" y="5067298"/>
            <a:ext cx="7721600" cy="1790699"/>
          </a:xfrm>
          <a:prstGeom prst="rect">
            <a:avLst/>
          </a:prstGeom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2E7F6D73-6BF3-4D63-9907-1AB4BB7F2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765266"/>
            <a:ext cx="5179828" cy="1437049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SOTTOTITOLO DELLO SCHEMA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4575A2-3EDB-47FF-B6D3-14375B072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073022"/>
            <a:ext cx="10515600" cy="1574044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it-IT" dirty="0"/>
              <a:t>FARE CLIC PER MODIFICARE IL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8696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8">
            <a:extLst>
              <a:ext uri="{FF2B5EF4-FFF2-40B4-BE49-F238E27FC236}">
                <a16:creationId xmlns:a16="http://schemas.microsoft.com/office/drawing/2014/main" id="{A48C504F-35E4-295E-72FE-89D1137D174A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3" name="Immagine 12" descr="Immagine che contiene spazio, oscurità, Universo, astronomia&#10;&#10;Descrizione generata automaticamente">
            <a:extLst>
              <a:ext uri="{FF2B5EF4-FFF2-40B4-BE49-F238E27FC236}">
                <a16:creationId xmlns:a16="http://schemas.microsoft.com/office/drawing/2014/main" id="{ECAD2E1B-4244-191D-2E3E-3AB91404F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C4575A2-3EDB-47FF-B6D3-14375B072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78845"/>
            <a:ext cx="10515600" cy="1574044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FARE CLIC PER MODIFICARE IL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E7F6D73-6BF3-4D63-9907-1AB4BB7F2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428999"/>
            <a:ext cx="5179828" cy="1437049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SOTTOTITOLO DELLO SCHEMA</a:t>
            </a:r>
          </a:p>
        </p:txBody>
      </p:sp>
      <p:pic>
        <p:nvPicPr>
          <p:cNvPr id="17" name="Immagine 16" descr="Immagine che contiene Elementi grafici, Carattere, grafica, bianco&#10;&#10;Descrizione generata automaticamente">
            <a:extLst>
              <a:ext uri="{FF2B5EF4-FFF2-40B4-BE49-F238E27FC236}">
                <a16:creationId xmlns:a16="http://schemas.microsoft.com/office/drawing/2014/main" id="{84A656C2-30FB-3EC9-6D74-3CC0317C45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55" y="436032"/>
            <a:ext cx="1359931" cy="196326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62027079-02FD-4F05-4E93-75CB00FDCF4F}"/>
              </a:ext>
            </a:extLst>
          </p:cNvPr>
          <p:cNvSpPr txBox="1">
            <a:spLocks/>
          </p:cNvSpPr>
          <p:nvPr userDrawn="1"/>
        </p:nvSpPr>
        <p:spPr>
          <a:xfrm>
            <a:off x="6142911" y="3765266"/>
            <a:ext cx="5179828" cy="1437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D2716"/>
              </a:buClr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11" name="Immagine 10" descr="Immagine che contiene Elementi grafici, Carattere, grafica, Neon&#10;&#10;Descrizione generata automaticamente">
            <a:extLst>
              <a:ext uri="{FF2B5EF4-FFF2-40B4-BE49-F238E27FC236}">
                <a16:creationId xmlns:a16="http://schemas.microsoft.com/office/drawing/2014/main" id="{3930560E-29ED-04BA-867A-8AF80FF564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639" y="238362"/>
            <a:ext cx="1916565" cy="588728"/>
          </a:xfrm>
          <a:prstGeom prst="rect">
            <a:avLst/>
          </a:prstGeom>
        </p:spPr>
      </p:pic>
      <p:pic>
        <p:nvPicPr>
          <p:cNvPr id="15" name="Immagine 14" descr="Immagine che contiene triangolo, arte, linea, origami&#10;&#10;Descrizione generata automaticamente">
            <a:extLst>
              <a:ext uri="{FF2B5EF4-FFF2-40B4-BE49-F238E27FC236}">
                <a16:creationId xmlns:a16="http://schemas.microsoft.com/office/drawing/2014/main" id="{662708E9-FCE8-78CB-19BE-C7D4E8D895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60627" r="8788" b="2609"/>
          <a:stretch/>
        </p:blipFill>
        <p:spPr>
          <a:xfrm flipV="1">
            <a:off x="4470400" y="5283957"/>
            <a:ext cx="7721600" cy="15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9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67F5D78-7100-C19E-1D8E-F951E220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2" t="26464" r="31263" b="31667"/>
          <a:stretch/>
        </p:blipFill>
        <p:spPr>
          <a:xfrm rot="16200000">
            <a:off x="-1456388" y="1898041"/>
            <a:ext cx="6399607" cy="306073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C72F59-00C3-D50F-7F2F-125A6618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3619" y="167772"/>
            <a:ext cx="3098057" cy="6480678"/>
          </a:xfrm>
          <a:prstGeom prst="roundRect">
            <a:avLst>
              <a:gd name="adj" fmla="val 2886"/>
            </a:avLst>
          </a:prstGeom>
          <a:solidFill>
            <a:srgbClr val="222222"/>
          </a:solidFill>
          <a:ln>
            <a:noFill/>
          </a:ln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11F3DBD-ECD9-E785-0BBC-E317E9C5E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3" t="45647" r="10446" b="-22577"/>
          <a:stretch/>
        </p:blipFill>
        <p:spPr>
          <a:xfrm rot="10800000" flipH="1">
            <a:off x="193604" y="4847771"/>
            <a:ext cx="3098057" cy="1800680"/>
          </a:xfrm>
          <a:prstGeom prst="roundRect">
            <a:avLst>
              <a:gd name="adj" fmla="val 5559"/>
            </a:avLst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62287E-29F8-405C-B24B-BD20BBD6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471" y="987425"/>
            <a:ext cx="7649816" cy="5323923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200"/>
            </a:lvl1pPr>
            <a:lvl2pPr marL="971550" indent="-514350">
              <a:buFont typeface="Arial" panose="020B0604020202020204" pitchFamily="34" charset="0"/>
              <a:buChar char="•"/>
              <a:defRPr sz="2800"/>
            </a:lvl2pPr>
            <a:lvl3pPr marL="1371600" indent="-457200">
              <a:buFont typeface="Arial" panose="020B0604020202020204" pitchFamily="34" charset="0"/>
              <a:buChar char="•"/>
              <a:defRPr sz="2400"/>
            </a:lvl3pPr>
            <a:lvl4pPr marL="1828800" indent="-4572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70B759-260C-4427-8EE7-DCC84E8D5CD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93619" y="167772"/>
            <a:ext cx="3079388" cy="6460435"/>
          </a:xfrm>
          <a:prstGeom prst="roundRect">
            <a:avLst>
              <a:gd name="adj" fmla="val 1674"/>
            </a:avLst>
          </a:prstGeom>
          <a:noFill/>
          <a:ln>
            <a:noFill/>
          </a:ln>
          <a:effectLst>
            <a:outerShdw blurRad="76200" sx="101000" sy="101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it-IT" sz="3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268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1B5B02A-2585-DA84-278F-954DC8FC3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5C445B4-B19E-B56D-FA39-FF041634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BA1BEEF-812E-8BCB-F4B6-FD8C6D1B2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4D8842-A5E7-4EA3-AD67-ADB3415A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41D736B-D901-4CCD-A28F-C9A06C4C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0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18">
            <a:extLst>
              <a:ext uri="{FF2B5EF4-FFF2-40B4-BE49-F238E27FC236}">
                <a16:creationId xmlns:a16="http://schemas.microsoft.com/office/drawing/2014/main" id="{3A54BBF7-92A0-43CB-6374-669DEB02D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-4" y="0"/>
            <a:ext cx="457204" cy="6281741"/>
            <a:chOff x="-4" y="0"/>
            <a:chExt cx="457204" cy="6281741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758A1302-9E2E-AF33-FD52-8226CAD6C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892" t="8076" b="80041"/>
            <a:stretch/>
          </p:blipFill>
          <p:spPr>
            <a:xfrm rot="5400000" flipH="1">
              <a:off x="-1520039" y="1996284"/>
              <a:ext cx="3497265" cy="457195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FE46DC8C-2F0D-1D6D-8A65-4711537DC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925" r="65600" b="10193"/>
            <a:stretch/>
          </p:blipFill>
          <p:spPr>
            <a:xfrm rot="16200000" flipH="1">
              <a:off x="-1104899" y="4719642"/>
              <a:ext cx="2667001" cy="457197"/>
            </a:xfrm>
            <a:prstGeom prst="rect">
              <a:avLst/>
            </a:prstGeom>
          </p:spPr>
        </p:pic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B97425C-F130-A24F-CA58-30588E2B1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16" t="88462" r="45291" b="-344"/>
            <a:stretch/>
          </p:blipFill>
          <p:spPr>
            <a:xfrm rot="5400000" flipH="1" flipV="1">
              <a:off x="-395292" y="395290"/>
              <a:ext cx="1247778" cy="457198"/>
            </a:xfrm>
            <a:prstGeom prst="rect">
              <a:avLst/>
            </a:prstGeom>
          </p:spPr>
        </p:pic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BB5A4B-2F21-45EB-B979-69D9E6A0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8"/>
            <a:ext cx="11519452" cy="4584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38ADDC4-133D-43F8-B997-F71DC8DA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5442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A0D304C-06C6-4C95-C3E9-2D6E03EC2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42BFBDF-85A3-E8DA-B358-1A159260B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C02D404-78C2-B4CF-1AF8-EA204DDD9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AE27E1-4FB2-4092-8B71-019ABB11E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490870"/>
            <a:ext cx="5562599" cy="4652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F851A2-8DE9-4433-AEB8-BC8F51AE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90870"/>
            <a:ext cx="5562600" cy="4652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8EBE9F-9046-409A-BE66-C8E048CC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5757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ue colonne con sottotito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B589F90-C988-0CF6-D6E6-707431464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35" t="8076" r="957" b="80041"/>
          <a:stretch/>
        </p:blipFill>
        <p:spPr>
          <a:xfrm rot="5400000" flipH="1">
            <a:off x="-1520039" y="3056733"/>
            <a:ext cx="3497265" cy="45719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5E1F05A-FB0E-E4FB-E706-AD4863445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3" t="20624" r="61920" b="67494"/>
          <a:stretch/>
        </p:blipFill>
        <p:spPr>
          <a:xfrm rot="5400000">
            <a:off x="-800101" y="800098"/>
            <a:ext cx="2057400" cy="4572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F8C1422-F63F-C2AF-B766-3F0EA448D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5" t="88462" r="37122" b="-344"/>
          <a:stretch/>
        </p:blipFill>
        <p:spPr>
          <a:xfrm rot="5400000" flipH="1" flipV="1">
            <a:off x="-395295" y="5429253"/>
            <a:ext cx="1247778" cy="457198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3BC65F-16B2-483D-AEBB-5491170C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7688"/>
            <a:ext cx="5520496" cy="380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B1C361-671B-46CA-8458-22CE98073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462505"/>
            <a:ext cx="55204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13983-C092-418F-9669-2A9A1C8FF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078" y="2317688"/>
            <a:ext cx="5520497" cy="380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ABA516-4C8E-4C42-843B-A32DFEE8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078" y="1462505"/>
            <a:ext cx="55204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3AA89A9-A2EE-4E4D-AA7D-DDB27C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365125"/>
            <a:ext cx="9988826" cy="10661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65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7D18D861-5412-3E9D-0D01-5BA076DC1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-5" y="1"/>
            <a:ext cx="457206" cy="6281740"/>
            <a:chOff x="-5" y="1"/>
            <a:chExt cx="457206" cy="6281740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DB833ED6-D102-D8DE-E796-F7874C615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35" t="8076" r="957" b="80041"/>
            <a:stretch/>
          </p:blipFill>
          <p:spPr>
            <a:xfrm rot="5400000" flipH="1">
              <a:off x="-1520039" y="3056733"/>
              <a:ext cx="3497265" cy="457195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FE0E6840-B1DE-1A1D-FC62-7C9C44B6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3" t="20624" r="61920" b="67494"/>
            <a:stretch/>
          </p:blipFill>
          <p:spPr>
            <a:xfrm rot="5400000">
              <a:off x="-800101" y="800098"/>
              <a:ext cx="2057400" cy="457205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338350AF-0B15-B70C-BD1A-E00E3752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85" t="88462" r="37122" b="-344"/>
            <a:stretch/>
          </p:blipFill>
          <p:spPr>
            <a:xfrm rot="5400000" flipH="1" flipV="1">
              <a:off x="-395295" y="5429253"/>
              <a:ext cx="1247778" cy="457198"/>
            </a:xfrm>
            <a:prstGeom prst="rect">
              <a:avLst/>
            </a:prstGeom>
          </p:spPr>
        </p:pic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1FACA6A-4FC9-4A68-A945-11DCE0A3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79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7CE9DB1-307E-6023-CE7F-B0D873DB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C9BA40-7838-3C7F-07D5-31D0BC3D9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196644A-B39A-6A54-0657-AE709C43C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4FC529-62D2-422F-8CED-8B2C8D42F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199" y="1506194"/>
            <a:ext cx="11360425" cy="46564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AFF9B81-17E6-4794-9662-87C02ED3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56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84223CB-8FC0-60FB-ECAC-A83CEEBFD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35" t="8076" r="957" b="80041"/>
          <a:stretch/>
        </p:blipFill>
        <p:spPr>
          <a:xfrm rot="5400000" flipH="1">
            <a:off x="-1520039" y="3056733"/>
            <a:ext cx="3497265" cy="45719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7F09D41-8EF4-4DF6-AA41-987595A25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3" t="20624" r="61920" b="67494"/>
          <a:stretch/>
        </p:blipFill>
        <p:spPr>
          <a:xfrm rot="5400000">
            <a:off x="-800101" y="800098"/>
            <a:ext cx="2057400" cy="45720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D3506DB-6CFD-B919-4119-3F85C9EF4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5" t="88462" r="37122" b="-344"/>
          <a:stretch/>
        </p:blipFill>
        <p:spPr>
          <a:xfrm rot="5400000" flipH="1" flipV="1">
            <a:off x="-395295" y="5429253"/>
            <a:ext cx="1247778" cy="457198"/>
          </a:xfrm>
          <a:prstGeom prst="rect">
            <a:avLst/>
          </a:prstGeom>
        </p:spPr>
      </p:pic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99289A-64BD-4979-A942-E2297EB2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7261" y="365125"/>
            <a:ext cx="867686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57775D-E34F-4E64-97F3-A87525A7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1612" y="983973"/>
            <a:ext cx="2628900" cy="51929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12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9A442-E521-E1DE-278E-E8C0AEC0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BA53-B6F9-4094-B3AE-1CD255D13BFD}" type="datetimeFigureOut">
              <a:rPr lang="it-IT" smtClean="0"/>
              <a:t>26/11/2024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7E3AF-4B22-80E8-8AED-5BDAF9D4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1233A-E388-E0E4-E8FA-27D46F50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CB4A2-45E4-4481-BE7E-3642107CB4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125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9C153EB-6CAA-4C79-4A8F-7F1E4EC405E9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127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93775DB-BA53-4089-8ED0-38F822741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918710" y="6430297"/>
            <a:ext cx="2354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>
                <a:latin typeface="+mj-lt"/>
              </a:rPr>
              <a:t>©2024 WPC. </a:t>
            </a:r>
            <a:r>
              <a:rPr lang="it-IT" sz="900" dirty="0" err="1">
                <a:latin typeface="+mj-lt"/>
              </a:rPr>
              <a:t>All</a:t>
            </a:r>
            <a:r>
              <a:rPr lang="it-IT" sz="900" dirty="0">
                <a:latin typeface="+mj-lt"/>
              </a:rPr>
              <a:t> </a:t>
            </a:r>
            <a:r>
              <a:rPr lang="it-IT" sz="900" dirty="0" err="1">
                <a:latin typeface="+mj-lt"/>
              </a:rPr>
              <a:t>rights</a:t>
            </a:r>
            <a:r>
              <a:rPr lang="it-IT" sz="900" dirty="0">
                <a:latin typeface="+mj-lt"/>
              </a:rPr>
              <a:t> </a:t>
            </a:r>
            <a:r>
              <a:rPr lang="it-IT" sz="900" dirty="0" err="1">
                <a:latin typeface="+mj-lt"/>
              </a:rPr>
              <a:t>reserved</a:t>
            </a:r>
            <a:r>
              <a:rPr lang="it-IT" sz="900" dirty="0">
                <a:latin typeface="+mj-lt"/>
              </a:rPr>
              <a:t>.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388A0A31-BAD1-43DA-9298-C4752669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69895" y="6392198"/>
            <a:ext cx="329513" cy="329513"/>
          </a:xfrm>
          <a:prstGeom prst="ellipse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lang="id-ID" sz="1100" b="1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id-ID" sz="11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23F38D7-3F2E-480A-B568-F328C024D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592" y="6468393"/>
            <a:ext cx="1084371" cy="15602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1EED5E1-1C31-D4E6-9B7D-ED26E239B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43" y="238362"/>
            <a:ext cx="1916565" cy="588728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58669A-0F64-4FCF-A813-53B1C834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06194"/>
            <a:ext cx="11360425" cy="4775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19B218-04A9-4993-8BD4-D28E8AFE9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9318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1" r:id="rId4"/>
    <p:sldLayoutId id="2147483650" r:id="rId5"/>
    <p:sldLayoutId id="2147483652" r:id="rId6"/>
    <p:sldLayoutId id="2147483653" r:id="rId7"/>
    <p:sldLayoutId id="2147483654" r:id="rId8"/>
    <p:sldLayoutId id="2147483655" r:id="rId9"/>
    <p:sldLayoutId id="2147483658" r:id="rId10"/>
    <p:sldLayoutId id="2147483659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rgbClr val="BD271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D271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2D1A3D54-C15F-E305-2D2D-A182DA195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618556"/>
            <a:ext cx="10515600" cy="1574044"/>
          </a:xfrm>
        </p:spPr>
        <p:txBody>
          <a:bodyPr/>
          <a:lstStyle/>
          <a:p>
            <a:r>
              <a:rPr lang="it-IT" dirty="0"/>
              <a:t>Road to Copilot: Adottare l’AI nel Modern Workplace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E6CBD559-A7EF-F20F-E02C-3ED8EA4D2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5066852" cy="1430678"/>
          </a:xfrm>
        </p:spPr>
        <p:txBody>
          <a:bodyPr>
            <a:normAutofit fontScale="92500"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Roberto Freato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CTO @Retex | Author | Azure MVP</a:t>
            </a:r>
            <a:br>
              <a:rPr kumimoji="0" lang="it-IT" sz="2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49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FF13-EE86-017C-4575-5495F697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BD75-69EB-7BDA-CA5C-F50FA1C0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9147A4-B8D7-9959-141B-BD4FA63F966F}"/>
              </a:ext>
            </a:extLst>
          </p:cNvPr>
          <p:cNvGraphicFramePr>
            <a:graphicFrameLocks/>
          </p:cNvGraphicFramePr>
          <p:nvPr/>
        </p:nvGraphicFramePr>
        <p:xfrm>
          <a:off x="0" y="0"/>
          <a:ext cx="12192000" cy="6049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031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42B9EF-ACE1-779A-2B0E-60D711C35682}"/>
              </a:ext>
            </a:extLst>
          </p:cNvPr>
          <p:cNvCxnSpPr/>
          <p:nvPr/>
        </p:nvCxnSpPr>
        <p:spPr>
          <a:xfrm flipV="1">
            <a:off x="9101707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AB1540-83D4-E1F1-8DB4-F7A41D9C4572}"/>
              </a:ext>
            </a:extLst>
          </p:cNvPr>
          <p:cNvCxnSpPr/>
          <p:nvPr/>
        </p:nvCxnSpPr>
        <p:spPr>
          <a:xfrm flipV="1">
            <a:off x="6096000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E26942-9476-6A19-6A79-BEF50674300E}"/>
              </a:ext>
            </a:extLst>
          </p:cNvPr>
          <p:cNvCxnSpPr/>
          <p:nvPr/>
        </p:nvCxnSpPr>
        <p:spPr>
          <a:xfrm flipV="1">
            <a:off x="3078859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A8BA0E-547E-A01B-47FF-32EFB2A2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51" y="154110"/>
            <a:ext cx="10359683" cy="526927"/>
          </a:xfrm>
        </p:spPr>
        <p:txBody>
          <a:bodyPr>
            <a:normAutofit fontScale="90000"/>
          </a:bodyPr>
          <a:lstStyle/>
          <a:p>
            <a:r>
              <a:rPr lang="it-IT" dirty="0"/>
              <a:t>20 years of (some) innovations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0D8AB-A061-6B75-B81F-C23DEA695D12}"/>
              </a:ext>
            </a:extLst>
          </p:cNvPr>
          <p:cNvSpPr/>
          <p:nvPr/>
        </p:nvSpPr>
        <p:spPr>
          <a:xfrm>
            <a:off x="381000" y="5572136"/>
            <a:ext cx="11430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15971B-3926-B612-01E8-3B57F09C5ABB}"/>
              </a:ext>
            </a:extLst>
          </p:cNvPr>
          <p:cNvSpPr/>
          <p:nvPr/>
        </p:nvSpPr>
        <p:spPr>
          <a:xfrm>
            <a:off x="233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7614D7-B2D2-E548-27D7-3F2C2BBC943B}"/>
              </a:ext>
            </a:extLst>
          </p:cNvPr>
          <p:cNvSpPr/>
          <p:nvPr/>
        </p:nvSpPr>
        <p:spPr>
          <a:xfrm>
            <a:off x="11663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7F5C9-D5E3-B58C-9D02-1E7356276392}"/>
              </a:ext>
            </a:extLst>
          </p:cNvPr>
          <p:cNvSpPr/>
          <p:nvPr/>
        </p:nvSpPr>
        <p:spPr>
          <a:xfrm>
            <a:off x="5948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C5C7DB-CB33-900D-BCC0-A5935A67C40C}"/>
              </a:ext>
            </a:extLst>
          </p:cNvPr>
          <p:cNvSpPr/>
          <p:nvPr/>
        </p:nvSpPr>
        <p:spPr>
          <a:xfrm>
            <a:off x="2944250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83ED13-EAE5-1BA0-551E-C1D1FC6BF024}"/>
              </a:ext>
            </a:extLst>
          </p:cNvPr>
          <p:cNvSpPr/>
          <p:nvPr/>
        </p:nvSpPr>
        <p:spPr>
          <a:xfrm>
            <a:off x="8953501" y="5402829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FE7BC-0AFF-9466-A8A9-53402F3C777C}"/>
              </a:ext>
            </a:extLst>
          </p:cNvPr>
          <p:cNvSpPr txBox="1"/>
          <p:nvPr/>
        </p:nvSpPr>
        <p:spPr>
          <a:xfrm>
            <a:off x="47591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E5838-F94C-14CD-D646-365E197EEE73}"/>
              </a:ext>
            </a:extLst>
          </p:cNvPr>
          <p:cNvSpPr txBox="1"/>
          <p:nvPr/>
        </p:nvSpPr>
        <p:spPr>
          <a:xfrm>
            <a:off x="11471806" y="505278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3F480-1D57-DE2F-EFC4-1792A22F50B9}"/>
              </a:ext>
            </a:extLst>
          </p:cNvPr>
          <p:cNvSpPr/>
          <p:nvPr/>
        </p:nvSpPr>
        <p:spPr>
          <a:xfrm>
            <a:off x="380998" y="4472238"/>
            <a:ext cx="4448177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Social Media Platforms (2004-2012)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F8873-D72D-901D-4B7E-3854432E496E}"/>
              </a:ext>
            </a:extLst>
          </p:cNvPr>
          <p:cNvSpPr/>
          <p:nvPr/>
        </p:nvSpPr>
        <p:spPr>
          <a:xfrm>
            <a:off x="1304923" y="3979001"/>
            <a:ext cx="5453065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Cloud Computing (2006-2015)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B70F5-80A3-4C78-93D1-13CDDC2C75CC}"/>
              </a:ext>
            </a:extLst>
          </p:cNvPr>
          <p:cNvSpPr txBox="1"/>
          <p:nvPr/>
        </p:nvSpPr>
        <p:spPr>
          <a:xfrm>
            <a:off x="2752178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2009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84F39B-44AA-1279-CD9A-4DD96BEDD85A}"/>
              </a:ext>
            </a:extLst>
          </p:cNvPr>
          <p:cNvSpPr txBox="1"/>
          <p:nvPr/>
        </p:nvSpPr>
        <p:spPr>
          <a:xfrm>
            <a:off x="5756803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25762-39EE-4ECE-760D-D066DCD23FA7}"/>
              </a:ext>
            </a:extLst>
          </p:cNvPr>
          <p:cNvSpPr txBox="1"/>
          <p:nvPr/>
        </p:nvSpPr>
        <p:spPr>
          <a:xfrm>
            <a:off x="8761431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2019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D6013-82D3-131F-DEBB-77728554D827}"/>
              </a:ext>
            </a:extLst>
          </p:cNvPr>
          <p:cNvSpPr/>
          <p:nvPr/>
        </p:nvSpPr>
        <p:spPr>
          <a:xfrm>
            <a:off x="1785937" y="3485763"/>
            <a:ext cx="4972052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Smartphones (2007-2015)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F5A7E6-E2C0-7B8F-941D-E3FF4D5DDB7B}"/>
              </a:ext>
            </a:extLst>
          </p:cNvPr>
          <p:cNvSpPr/>
          <p:nvPr/>
        </p:nvSpPr>
        <p:spPr>
          <a:xfrm>
            <a:off x="2357436" y="2992525"/>
            <a:ext cx="7215189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Blockchain &amp; Crypto (2008-2020)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9FC07C-F063-B94F-9F9C-4E75A627A3A6}"/>
              </a:ext>
            </a:extLst>
          </p:cNvPr>
          <p:cNvSpPr/>
          <p:nvPr/>
        </p:nvSpPr>
        <p:spPr>
          <a:xfrm>
            <a:off x="3708662" y="2506670"/>
            <a:ext cx="4778114" cy="3119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Big Data Analytics (2010-2018)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A1A88-A15F-C912-AFAD-2341177C93F1}"/>
              </a:ext>
            </a:extLst>
          </p:cNvPr>
          <p:cNvSpPr/>
          <p:nvPr/>
        </p:nvSpPr>
        <p:spPr>
          <a:xfrm>
            <a:off x="3714235" y="2020815"/>
            <a:ext cx="7029965" cy="3119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 Computing (2010-2022)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A1D88-5D71-C4E3-4648-51391A508660}"/>
              </a:ext>
            </a:extLst>
          </p:cNvPr>
          <p:cNvSpPr/>
          <p:nvPr/>
        </p:nvSpPr>
        <p:spPr>
          <a:xfrm>
            <a:off x="4502685" y="1534961"/>
            <a:ext cx="5212816" cy="3119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Internet of Things (2012-2020)</a:t>
            </a:r>
          </a:p>
        </p:txBody>
      </p:sp>
    </p:spTree>
    <p:extLst>
      <p:ext uri="{BB962C8B-B14F-4D97-AF65-F5344CB8AC3E}">
        <p14:creationId xmlns:p14="http://schemas.microsoft.com/office/powerpoint/2010/main" val="334407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014C13-2917-6F3D-D2A9-E29370531E8D}"/>
              </a:ext>
            </a:extLst>
          </p:cNvPr>
          <p:cNvCxnSpPr/>
          <p:nvPr/>
        </p:nvCxnSpPr>
        <p:spPr>
          <a:xfrm flipV="1">
            <a:off x="9101707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03767C-89FA-7A24-5E16-6DD3C0E862D5}"/>
              </a:ext>
            </a:extLst>
          </p:cNvPr>
          <p:cNvCxnSpPr/>
          <p:nvPr/>
        </p:nvCxnSpPr>
        <p:spPr>
          <a:xfrm flipV="1">
            <a:off x="6096000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30B3E6-F69B-F29E-1056-2FD71C985D21}"/>
              </a:ext>
            </a:extLst>
          </p:cNvPr>
          <p:cNvCxnSpPr/>
          <p:nvPr/>
        </p:nvCxnSpPr>
        <p:spPr>
          <a:xfrm flipV="1">
            <a:off x="3078859" y="960119"/>
            <a:ext cx="0" cy="46577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A8BA0E-547E-A01B-47FF-32EFB2A2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51" y="154110"/>
            <a:ext cx="10359683" cy="526927"/>
          </a:xfrm>
        </p:spPr>
        <p:txBody>
          <a:bodyPr>
            <a:normAutofit fontScale="90000"/>
          </a:bodyPr>
          <a:lstStyle/>
          <a:p>
            <a:r>
              <a:rPr lang="it-IT" dirty="0"/>
              <a:t>20 years of (some) innovations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0D8AB-A061-6B75-B81F-C23DEA695D12}"/>
              </a:ext>
            </a:extLst>
          </p:cNvPr>
          <p:cNvSpPr/>
          <p:nvPr/>
        </p:nvSpPr>
        <p:spPr>
          <a:xfrm>
            <a:off x="381000" y="5572136"/>
            <a:ext cx="11430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15971B-3926-B612-01E8-3B57F09C5ABB}"/>
              </a:ext>
            </a:extLst>
          </p:cNvPr>
          <p:cNvSpPr/>
          <p:nvPr/>
        </p:nvSpPr>
        <p:spPr>
          <a:xfrm>
            <a:off x="233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7614D7-B2D2-E548-27D7-3F2C2BBC943B}"/>
              </a:ext>
            </a:extLst>
          </p:cNvPr>
          <p:cNvSpPr/>
          <p:nvPr/>
        </p:nvSpPr>
        <p:spPr>
          <a:xfrm>
            <a:off x="11663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7F5C9-D5E3-B58C-9D02-1E7356276392}"/>
              </a:ext>
            </a:extLst>
          </p:cNvPr>
          <p:cNvSpPr/>
          <p:nvPr/>
        </p:nvSpPr>
        <p:spPr>
          <a:xfrm>
            <a:off x="5948875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C5C7DB-CB33-900D-BCC0-A5935A67C40C}"/>
              </a:ext>
            </a:extLst>
          </p:cNvPr>
          <p:cNvSpPr/>
          <p:nvPr/>
        </p:nvSpPr>
        <p:spPr>
          <a:xfrm>
            <a:off x="2944250" y="5422117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83ED13-EAE5-1BA0-551E-C1D1FC6BF024}"/>
              </a:ext>
            </a:extLst>
          </p:cNvPr>
          <p:cNvSpPr/>
          <p:nvPr/>
        </p:nvSpPr>
        <p:spPr>
          <a:xfrm>
            <a:off x="8953501" y="5402829"/>
            <a:ext cx="294249" cy="300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FE7BC-0AFF-9466-A8A9-53402F3C777C}"/>
              </a:ext>
            </a:extLst>
          </p:cNvPr>
          <p:cNvSpPr txBox="1"/>
          <p:nvPr/>
        </p:nvSpPr>
        <p:spPr>
          <a:xfrm>
            <a:off x="47591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E5838-F94C-14CD-D646-365E197EEE73}"/>
              </a:ext>
            </a:extLst>
          </p:cNvPr>
          <p:cNvSpPr txBox="1"/>
          <p:nvPr/>
        </p:nvSpPr>
        <p:spPr>
          <a:xfrm>
            <a:off x="11471806" y="505278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3F480-1D57-DE2F-EFC4-1792A22F50B9}"/>
              </a:ext>
            </a:extLst>
          </p:cNvPr>
          <p:cNvSpPr/>
          <p:nvPr/>
        </p:nvSpPr>
        <p:spPr>
          <a:xfrm>
            <a:off x="380998" y="4472238"/>
            <a:ext cx="4448177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Social Media Platforms (2004-2012)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F8873-D72D-901D-4B7E-3854432E496E}"/>
              </a:ext>
            </a:extLst>
          </p:cNvPr>
          <p:cNvSpPr/>
          <p:nvPr/>
        </p:nvSpPr>
        <p:spPr>
          <a:xfrm>
            <a:off x="1304923" y="3979001"/>
            <a:ext cx="5453065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Cloud Computing (2006-2015)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B70F5-80A3-4C78-93D1-13CDDC2C75CC}"/>
              </a:ext>
            </a:extLst>
          </p:cNvPr>
          <p:cNvSpPr txBox="1"/>
          <p:nvPr/>
        </p:nvSpPr>
        <p:spPr>
          <a:xfrm>
            <a:off x="2752178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2009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84F39B-44AA-1279-CD9A-4DD96BEDD85A}"/>
              </a:ext>
            </a:extLst>
          </p:cNvPr>
          <p:cNvSpPr txBox="1"/>
          <p:nvPr/>
        </p:nvSpPr>
        <p:spPr>
          <a:xfrm>
            <a:off x="5756803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25762-39EE-4ECE-760D-D066DCD23FA7}"/>
              </a:ext>
            </a:extLst>
          </p:cNvPr>
          <p:cNvSpPr txBox="1"/>
          <p:nvPr/>
        </p:nvSpPr>
        <p:spPr>
          <a:xfrm>
            <a:off x="8761431" y="503349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2019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D6013-82D3-131F-DEBB-77728554D827}"/>
              </a:ext>
            </a:extLst>
          </p:cNvPr>
          <p:cNvSpPr/>
          <p:nvPr/>
        </p:nvSpPr>
        <p:spPr>
          <a:xfrm>
            <a:off x="1785937" y="3485763"/>
            <a:ext cx="4972052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Smartphones (2007-2015)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F5A7E6-E2C0-7B8F-941D-E3FF4D5DDB7B}"/>
              </a:ext>
            </a:extLst>
          </p:cNvPr>
          <p:cNvSpPr/>
          <p:nvPr/>
        </p:nvSpPr>
        <p:spPr>
          <a:xfrm>
            <a:off x="2357436" y="2992525"/>
            <a:ext cx="7215189" cy="319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Blockchain &amp; Crypto (2008-2020)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9FC07C-F063-B94F-9F9C-4E75A627A3A6}"/>
              </a:ext>
            </a:extLst>
          </p:cNvPr>
          <p:cNvSpPr/>
          <p:nvPr/>
        </p:nvSpPr>
        <p:spPr>
          <a:xfrm>
            <a:off x="3708662" y="2506670"/>
            <a:ext cx="4778114" cy="3119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Big Data Analytics (2010-2018)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A1A88-A15F-C912-AFAD-2341177C93F1}"/>
              </a:ext>
            </a:extLst>
          </p:cNvPr>
          <p:cNvSpPr/>
          <p:nvPr/>
        </p:nvSpPr>
        <p:spPr>
          <a:xfrm>
            <a:off x="3714235" y="2020815"/>
            <a:ext cx="7029965" cy="3119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 Computing (2010-2022)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A1D88-5D71-C4E3-4648-51391A508660}"/>
              </a:ext>
            </a:extLst>
          </p:cNvPr>
          <p:cNvSpPr/>
          <p:nvPr/>
        </p:nvSpPr>
        <p:spPr>
          <a:xfrm>
            <a:off x="4502685" y="1534961"/>
            <a:ext cx="5212816" cy="3119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Internet of Things (2012-2020)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3A3A5A-B087-0470-CE9D-108E22FE5705}"/>
              </a:ext>
            </a:extLst>
          </p:cNvPr>
          <p:cNvSpPr/>
          <p:nvPr/>
        </p:nvSpPr>
        <p:spPr>
          <a:xfrm>
            <a:off x="10101262" y="1073003"/>
            <a:ext cx="1752895" cy="2880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GenAI (2022-)</a:t>
            </a:r>
          </a:p>
        </p:txBody>
      </p:sp>
    </p:spTree>
    <p:extLst>
      <p:ext uri="{BB962C8B-B14F-4D97-AF65-F5344CB8AC3E}">
        <p14:creationId xmlns:p14="http://schemas.microsoft.com/office/powerpoint/2010/main" val="338467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FF13-EE86-017C-4575-5495F697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BD75-69EB-7BDA-CA5C-F50FA1C0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9147A4-B8D7-9959-141B-BD4FA63F966F}"/>
              </a:ext>
            </a:extLst>
          </p:cNvPr>
          <p:cNvGraphicFramePr>
            <a:graphicFrameLocks/>
          </p:cNvGraphicFramePr>
          <p:nvPr/>
        </p:nvGraphicFramePr>
        <p:xfrm>
          <a:off x="0" y="0"/>
          <a:ext cx="12192000" cy="6049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D2BCBE-454D-6C81-5356-4DFA7FEBCD4B}"/>
              </a:ext>
            </a:extLst>
          </p:cNvPr>
          <p:cNvCxnSpPr/>
          <p:nvPr/>
        </p:nvCxnSpPr>
        <p:spPr>
          <a:xfrm>
            <a:off x="5772443" y="1175411"/>
            <a:ext cx="1992904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98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E622D-B7BC-A462-9E91-980C0F1A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17" y="1147497"/>
            <a:ext cx="5572903" cy="389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02645-90EC-C9BC-0113-80872C02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273" y="356911"/>
            <a:ext cx="3962953" cy="39534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6D9231-9EA4-29D8-A6DE-6D990386F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855" y="1052234"/>
            <a:ext cx="6906589" cy="3991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78FA6F-27E6-EECF-4D38-A01C2547F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021" y="1404655"/>
            <a:ext cx="703995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2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FF13-EE86-017C-4575-5495F697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BD75-69EB-7BDA-CA5C-F50FA1C0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9147A4-B8D7-9959-141B-BD4FA63F966F}"/>
              </a:ext>
            </a:extLst>
          </p:cNvPr>
          <p:cNvGraphicFramePr>
            <a:graphicFrameLocks/>
          </p:cNvGraphicFramePr>
          <p:nvPr/>
        </p:nvGraphicFramePr>
        <p:xfrm>
          <a:off x="0" y="0"/>
          <a:ext cx="12192000" cy="6049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1F7C735-E240-6D5A-DC94-662E67151674}"/>
              </a:ext>
            </a:extLst>
          </p:cNvPr>
          <p:cNvSpPr/>
          <p:nvPr/>
        </p:nvSpPr>
        <p:spPr>
          <a:xfrm>
            <a:off x="838200" y="4042353"/>
            <a:ext cx="10515600" cy="3264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/>
              <a:t>Cloud Computing (2006-2015) ~ 10 years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430C1-F512-7845-067D-352E871930A3}"/>
              </a:ext>
            </a:extLst>
          </p:cNvPr>
          <p:cNvSpPr/>
          <p:nvPr/>
        </p:nvSpPr>
        <p:spPr>
          <a:xfrm>
            <a:off x="838200" y="3581010"/>
            <a:ext cx="10515600" cy="3264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/>
              <a:t>Smartphones (2007-2015) ~ 9 years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65F2A-55F3-0390-E9BC-90008B4A3117}"/>
              </a:ext>
            </a:extLst>
          </p:cNvPr>
          <p:cNvSpPr/>
          <p:nvPr/>
        </p:nvSpPr>
        <p:spPr>
          <a:xfrm>
            <a:off x="838201" y="4503695"/>
            <a:ext cx="5983224" cy="3264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/>
              <a:t>GenAI (2022-2024) ~ 2 years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55CB74-C089-04AF-8D78-D786D58A6A8F}"/>
              </a:ext>
            </a:extLst>
          </p:cNvPr>
          <p:cNvSpPr/>
          <p:nvPr/>
        </p:nvSpPr>
        <p:spPr>
          <a:xfrm>
            <a:off x="6821423" y="4969918"/>
            <a:ext cx="4418663" cy="3264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i="1" dirty="0"/>
              <a:t>2025-2026?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5A52C0-7D19-8F43-2693-93D41CDC4294}"/>
              </a:ext>
            </a:extLst>
          </p:cNvPr>
          <p:cNvCxnSpPr>
            <a:cxnSpLocks/>
          </p:cNvCxnSpPr>
          <p:nvPr/>
        </p:nvCxnSpPr>
        <p:spPr>
          <a:xfrm flipV="1">
            <a:off x="6821425" y="1457430"/>
            <a:ext cx="0" cy="337267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6B26E1D-A106-4F57-6C90-FEC9991428C1}"/>
              </a:ext>
            </a:extLst>
          </p:cNvPr>
          <p:cNvSpPr/>
          <p:nvPr/>
        </p:nvSpPr>
        <p:spPr>
          <a:xfrm>
            <a:off x="6821424" y="3588092"/>
            <a:ext cx="4532376" cy="3264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/>
              <a:t>2012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829E2E-53C7-2D45-F9B4-67EF219DCB91}"/>
              </a:ext>
            </a:extLst>
          </p:cNvPr>
          <p:cNvSpPr/>
          <p:nvPr/>
        </p:nvSpPr>
        <p:spPr>
          <a:xfrm>
            <a:off x="6821423" y="4053931"/>
            <a:ext cx="4532375" cy="3264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/>
              <a:t>2013</a:t>
            </a:r>
          </a:p>
        </p:txBody>
      </p:sp>
    </p:spTree>
    <p:extLst>
      <p:ext uri="{BB962C8B-B14F-4D97-AF65-F5344CB8AC3E}">
        <p14:creationId xmlns:p14="http://schemas.microsoft.com/office/powerpoint/2010/main" val="313526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B63FE2-E8CF-30E1-720B-CA65F502C04F}"/>
              </a:ext>
            </a:extLst>
          </p:cNvPr>
          <p:cNvSpPr txBox="1">
            <a:spLocks/>
          </p:cNvSpPr>
          <p:nvPr/>
        </p:nvSpPr>
        <p:spPr>
          <a:xfrm>
            <a:off x="994410" y="1122648"/>
            <a:ext cx="10020300" cy="40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rgbClr val="374151"/>
                </a:solidFill>
                <a:latin typeface="Inter"/>
              </a:rPr>
              <a:t>“</a:t>
            </a:r>
            <a:r>
              <a:rPr lang="it-IT" sz="6000" strike="sngStrike" dirty="0">
                <a:solidFill>
                  <a:srgbClr val="374151"/>
                </a:solidFill>
                <a:latin typeface="Inter"/>
              </a:rPr>
              <a:t>L'Anello</a:t>
            </a:r>
            <a:r>
              <a:rPr lang="it-IT" sz="6000" dirty="0">
                <a:solidFill>
                  <a:srgbClr val="374151"/>
                </a:solidFill>
                <a:latin typeface="Inter"/>
              </a:rPr>
              <a:t> L’AI concede al portatore un potere proporzionale a quello che già possiede</a:t>
            </a:r>
            <a:r>
              <a:rPr lang="en-US" sz="6000" dirty="0">
                <a:solidFill>
                  <a:srgbClr val="374151"/>
                </a:solidFill>
                <a:latin typeface="Inter"/>
              </a:rPr>
              <a:t>”</a:t>
            </a:r>
          </a:p>
          <a:p>
            <a:pPr algn="r"/>
            <a:r>
              <a:rPr lang="en-US" sz="2800" strike="sngStrike" dirty="0">
                <a:solidFill>
                  <a:srgbClr val="374151"/>
                </a:solidFill>
                <a:latin typeface="Inter"/>
              </a:rPr>
              <a:t>J. R. R. Tolkien</a:t>
            </a:r>
          </a:p>
          <a:p>
            <a:pPr algn="r"/>
            <a:r>
              <a:rPr lang="en-US" sz="2800" dirty="0">
                <a:solidFill>
                  <a:srgbClr val="374151"/>
                </a:solidFill>
                <a:latin typeface="Inter"/>
              </a:rPr>
              <a:t>Me</a:t>
            </a:r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05C01-0D2A-14A4-9714-BD7A9E224FD2}"/>
              </a:ext>
            </a:extLst>
          </p:cNvPr>
          <p:cNvSpPr txBox="1"/>
          <p:nvPr/>
        </p:nvSpPr>
        <p:spPr>
          <a:xfrm>
            <a:off x="994410" y="5752950"/>
            <a:ext cx="1075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* Questa affermazione si basa su ricerche reali che suggeriscono che l'IA può amplificare sia gli esiti positivi che quelli negativi. Tuttavia, non ho i diritti per condividerla qui</a:t>
            </a:r>
          </a:p>
        </p:txBody>
      </p:sp>
    </p:spTree>
    <p:extLst>
      <p:ext uri="{BB962C8B-B14F-4D97-AF65-F5344CB8AC3E}">
        <p14:creationId xmlns:p14="http://schemas.microsoft.com/office/powerpoint/2010/main" val="76538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B63FE2-E8CF-30E1-720B-CA65F502C04F}"/>
              </a:ext>
            </a:extLst>
          </p:cNvPr>
          <p:cNvSpPr txBox="1">
            <a:spLocks/>
          </p:cNvSpPr>
          <p:nvPr/>
        </p:nvSpPr>
        <p:spPr>
          <a:xfrm>
            <a:off x="994410" y="1122648"/>
            <a:ext cx="10020300" cy="40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rgbClr val="374151"/>
                </a:solidFill>
                <a:latin typeface="Inter"/>
              </a:rPr>
              <a:t>“</a:t>
            </a:r>
            <a:r>
              <a:rPr lang="it-IT" sz="6000" dirty="0">
                <a:solidFill>
                  <a:srgbClr val="374151"/>
                </a:solidFill>
                <a:latin typeface="Inter"/>
              </a:rPr>
              <a:t>L’AI generativa è, per la maggior parte di noi, ciò che Excel era per i contabili negli anni '90.</a:t>
            </a:r>
            <a:r>
              <a:rPr lang="en-US" sz="6000" dirty="0">
                <a:solidFill>
                  <a:srgbClr val="374151"/>
                </a:solidFill>
                <a:latin typeface="Inter"/>
              </a:rPr>
              <a:t>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05C01-0D2A-14A4-9714-BD7A9E224FD2}"/>
              </a:ext>
            </a:extLst>
          </p:cNvPr>
          <p:cNvSpPr txBox="1"/>
          <p:nvPr/>
        </p:nvSpPr>
        <p:spPr>
          <a:xfrm>
            <a:off x="9276202" y="5735352"/>
            <a:ext cx="3059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* </a:t>
            </a:r>
            <a:r>
              <a:rPr lang="it-IT" sz="1200" b="0" i="0" dirty="0">
                <a:solidFill>
                  <a:srgbClr val="374151"/>
                </a:solidFill>
                <a:effectLst/>
                <a:latin typeface="Inter"/>
              </a:rPr>
              <a:t>Questa affermazione non si basa su nulla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39465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ic design of a light bulb and various objects&#10;&#10;Description automatically generated">
            <a:extLst>
              <a:ext uri="{FF2B5EF4-FFF2-40B4-BE49-F238E27FC236}">
                <a16:creationId xmlns:a16="http://schemas.microsoft.com/office/drawing/2014/main" id="{06F1D2EA-55EC-C25B-791C-973D6C078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29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3FA4B-C2B2-B60C-81E7-01B76F6EF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086"/>
            <a:ext cx="12192000" cy="790913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C1E4CB4-D1BE-F694-DF30-84ED82C97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100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9267-2EF1-FD29-453B-D6BC5086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015174"/>
          </a:xfrm>
        </p:spPr>
        <p:txBody>
          <a:bodyPr/>
          <a:lstStyle/>
          <a:p>
            <a:r>
              <a:rPr lang="it-IT" dirty="0"/>
              <a:t>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AB629-AFC3-53F7-87BE-31E7D0597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724913"/>
            <a:ext cx="10515600" cy="3364737"/>
          </a:xfrm>
        </p:spPr>
        <p:txBody>
          <a:bodyPr/>
          <a:lstStyle/>
          <a:p>
            <a:r>
              <a:rPr lang="it-IT" dirty="0"/>
              <a:t>Con l’AI generativa, non dovremmo sforzarci di capire come confezionarla e venderla come un prodotto—questo è stato un errore comune nell'ultimo anno e mezzo. Invece, dobbiamo diventare i suoi principali utilizzatori il più rapidamente e ampiamente possibile. Più la integriamo nel nostro lavoro quotidiano—proprio come usiamo Excel, smartphone o anche una scrivania e un mouse—più naturalmente emergeranno le idee giuste per nuove offerte e prodotti. Queste innovazioni potrebbero non ruotare necessariamente intorno all’AI stessa ma, senza di essa, potrebbero non vedere mai la luce.</a:t>
            </a:r>
          </a:p>
        </p:txBody>
      </p:sp>
    </p:spTree>
    <p:extLst>
      <p:ext uri="{BB962C8B-B14F-4D97-AF65-F5344CB8AC3E}">
        <p14:creationId xmlns:p14="http://schemas.microsoft.com/office/powerpoint/2010/main" val="3095618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B4E7-433B-DA69-733C-EF9BDA96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Proposal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3642-E30B-5F4F-5922-54D2AD075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18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enerato da DALL·E">
            <a:extLst>
              <a:ext uri="{FF2B5EF4-FFF2-40B4-BE49-F238E27FC236}">
                <a16:creationId xmlns:a16="http://schemas.microsoft.com/office/drawing/2014/main" id="{2AE83EB3-B5D0-2045-9EE1-3BB2A6631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3" b="10414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AA95E-5F9D-DA6C-CDAD-0A89154E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756" y="-1396587"/>
            <a:ext cx="3201429" cy="3665124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Empower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DB1738-E8E6-867D-D21C-96EBFA4FC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1914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5BB8-624D-6194-8615-062D63A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Let’s give GenAI to </a:t>
            </a:r>
            <a:r>
              <a:rPr lang="it-IT" b="1" dirty="0"/>
              <a:t>every</a:t>
            </a:r>
            <a:r>
              <a:rPr lang="it-IT" dirty="0"/>
              <a:t> colleague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AD9C-2693-D650-A630-586DD101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Challenges</a:t>
            </a:r>
          </a:p>
          <a:p>
            <a:pPr lvl="1"/>
            <a:r>
              <a:rPr lang="it-IT" dirty="0"/>
              <a:t>Costs: </a:t>
            </a:r>
          </a:p>
          <a:p>
            <a:pPr lvl="2"/>
            <a:r>
              <a:rPr lang="it-IT" dirty="0"/>
              <a:t>current price point for a user/month for a GenAI tool is 10-40$/m</a:t>
            </a:r>
          </a:p>
          <a:p>
            <a:pPr lvl="1"/>
            <a:r>
              <a:rPr lang="it-IT" dirty="0"/>
              <a:t>Vendor lock-in:</a:t>
            </a:r>
          </a:p>
          <a:p>
            <a:pPr lvl="2"/>
            <a:r>
              <a:rPr lang="it-IT" dirty="0"/>
              <a:t>with this speed, who’s the market leader, 6 months from now?</a:t>
            </a:r>
          </a:p>
          <a:p>
            <a:pPr lvl="1"/>
            <a:r>
              <a:rPr lang="it-IT" dirty="0"/>
              <a:t>Security:</a:t>
            </a:r>
          </a:p>
          <a:p>
            <a:pPr lvl="2"/>
            <a:r>
              <a:rPr lang="it-IT" dirty="0"/>
              <a:t>does the paid solution provide 100% safety and privacy to our data?</a:t>
            </a:r>
          </a:p>
          <a:p>
            <a:pPr lvl="1"/>
            <a:r>
              <a:rPr lang="it-IT" dirty="0"/>
              <a:t>Control:</a:t>
            </a:r>
          </a:p>
          <a:p>
            <a:pPr lvl="2"/>
            <a:r>
              <a:rPr lang="it-IT" dirty="0"/>
              <a:t>can we shape the service features to both address results and evangelization?</a:t>
            </a:r>
          </a:p>
        </p:txBody>
      </p:sp>
    </p:spTree>
    <p:extLst>
      <p:ext uri="{BB962C8B-B14F-4D97-AF65-F5344CB8AC3E}">
        <p14:creationId xmlns:p14="http://schemas.microsoft.com/office/powerpoint/2010/main" val="358121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B4E7-433B-DA69-733C-EF9BDA96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tech part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3642-E30B-5F4F-5922-54D2AD075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1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CDF6-6228-51A5-032F-C8461911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2A0FF-C377-58A8-0FBD-4FA546B4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253"/>
            <a:ext cx="12192000" cy="45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11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3532B-E3F1-3A90-4C25-AA783803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D669D-4591-B3E1-DAA4-465317228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Basic generation, Prompt libraries, Settings, RAG, Models comparison</a:t>
            </a:r>
          </a:p>
        </p:txBody>
      </p:sp>
    </p:spTree>
    <p:extLst>
      <p:ext uri="{BB962C8B-B14F-4D97-AF65-F5344CB8AC3E}">
        <p14:creationId xmlns:p14="http://schemas.microsoft.com/office/powerpoint/2010/main" val="1574120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CDF6-6228-51A5-032F-C8461911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2A0FF-C377-58A8-0FBD-4FA546B4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253"/>
            <a:ext cx="12192000" cy="4593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29AB38-20DC-23EA-2D1B-F4D076C98A67}"/>
                  </a:ext>
                </a:extLst>
              </p14:cNvPr>
              <p14:cNvContentPartPr/>
              <p14:nvPr/>
            </p14:nvContentPartPr>
            <p14:xfrm>
              <a:off x="8522548" y="1939052"/>
              <a:ext cx="3539160" cy="876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29AB38-20DC-23EA-2D1B-F4D076C98A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8548" y="1831412"/>
                <a:ext cx="3646800" cy="10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1121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368A-7C04-435F-83F4-FE402543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8" y="18256"/>
            <a:ext cx="9927771" cy="728194"/>
          </a:xfrm>
        </p:spPr>
        <p:txBody>
          <a:bodyPr/>
          <a:lstStyle/>
          <a:p>
            <a:r>
              <a:rPr lang="it-IT" dirty="0"/>
              <a:t>compute quadrant (2022)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BA40FC-6DCB-47D8-9AE8-B43B28F0FB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9529" y="1059795"/>
          <a:ext cx="8204367" cy="495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41D2F1A-385F-C290-B75B-F8AB1DBFA3A8}"/>
              </a:ext>
            </a:extLst>
          </p:cNvPr>
          <p:cNvSpPr/>
          <p:nvPr/>
        </p:nvSpPr>
        <p:spPr>
          <a:xfrm>
            <a:off x="7657479" y="4424735"/>
            <a:ext cx="192241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Container Apps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9A8A00-1388-9425-3735-F213EE7428F9}"/>
              </a:ext>
            </a:extLst>
          </p:cNvPr>
          <p:cNvSpPr/>
          <p:nvPr/>
        </p:nvSpPr>
        <p:spPr>
          <a:xfrm>
            <a:off x="8571880" y="4805281"/>
            <a:ext cx="149290" cy="144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9173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368A-7C04-435F-83F4-FE402543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8" y="18256"/>
            <a:ext cx="9927771" cy="728194"/>
          </a:xfrm>
        </p:spPr>
        <p:txBody>
          <a:bodyPr/>
          <a:lstStyle/>
          <a:p>
            <a:r>
              <a:rPr lang="it-IT" dirty="0"/>
              <a:t>compute quadrant (now)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BA40FC-6DCB-47D8-9AE8-B43B28F0FB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9529" y="1059795"/>
          <a:ext cx="8204367" cy="495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41D2F1A-385F-C290-B75B-F8AB1DBFA3A8}"/>
              </a:ext>
            </a:extLst>
          </p:cNvPr>
          <p:cNvSpPr/>
          <p:nvPr/>
        </p:nvSpPr>
        <p:spPr>
          <a:xfrm>
            <a:off x="8231910" y="1059795"/>
            <a:ext cx="192241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Container Apps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9A8A00-1388-9425-3735-F213EE7428F9}"/>
              </a:ext>
            </a:extLst>
          </p:cNvPr>
          <p:cNvSpPr/>
          <p:nvPr/>
        </p:nvSpPr>
        <p:spPr>
          <a:xfrm>
            <a:off x="9146311" y="1440341"/>
            <a:ext cx="149290" cy="144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7609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F9AE-897D-7D6D-0830-11E6BB1E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K8s to Azure Container Apps</a:t>
            </a:r>
            <a:endParaRPr lang="it-IT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F8FD66-8A9B-DB8C-88A6-B3A4C7168E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6122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9320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775E-FE25-2065-8937-A0856D10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F6F43-A5FA-B527-2EA2-BDC3030F1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Container Apps</a:t>
            </a:r>
          </a:p>
        </p:txBody>
      </p:sp>
    </p:spTree>
    <p:extLst>
      <p:ext uri="{BB962C8B-B14F-4D97-AF65-F5344CB8AC3E}">
        <p14:creationId xmlns:p14="http://schemas.microsoft.com/office/powerpoint/2010/main" val="2185345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DD50-2068-036A-F404-8D3CCF89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Familiar YAML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1ECE3-DB71-9192-51B0-A8B55083E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Can start from K8s YAML</a:t>
            </a:r>
          </a:p>
          <a:p>
            <a:r>
              <a:rPr lang="it-IT" dirty="0"/>
              <a:t>Name &amp; Image</a:t>
            </a:r>
          </a:p>
          <a:p>
            <a:r>
              <a:rPr lang="it-IT" dirty="0"/>
              <a:t>Resource limits</a:t>
            </a:r>
          </a:p>
          <a:p>
            <a:r>
              <a:rPr lang="it-IT" dirty="0"/>
              <a:t>Env variables</a:t>
            </a:r>
          </a:p>
          <a:p>
            <a:r>
              <a:rPr lang="it-IT" dirty="0"/>
              <a:t>Volume mounts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4E79E-A487-9B8A-6FD5-5ACC45C40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805" y="895547"/>
            <a:ext cx="582058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47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8FBC-1FAE-C543-81A6-DB53342D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Simplified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56FA9-CA61-4464-035B-6E0D7B557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46" y="1503401"/>
            <a:ext cx="8969581" cy="41961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8A398-ED79-5851-D776-D198479F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603" y="3601453"/>
            <a:ext cx="4093684" cy="2199874"/>
          </a:xfrm>
        </p:spPr>
        <p:txBody>
          <a:bodyPr/>
          <a:lstStyle/>
          <a:p>
            <a:r>
              <a:rPr lang="it-IT" dirty="0"/>
              <a:t>Secrets management</a:t>
            </a:r>
          </a:p>
          <a:p>
            <a:r>
              <a:rPr lang="it-IT" dirty="0"/>
              <a:t>Ingress configuration</a:t>
            </a:r>
          </a:p>
          <a:p>
            <a:r>
              <a:rPr lang="it-IT" dirty="0"/>
              <a:t>Volume mounting</a:t>
            </a:r>
          </a:p>
        </p:txBody>
      </p:sp>
    </p:spTree>
    <p:extLst>
      <p:ext uri="{BB962C8B-B14F-4D97-AF65-F5344CB8AC3E}">
        <p14:creationId xmlns:p14="http://schemas.microsoft.com/office/powerpoint/2010/main" val="3457814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CDF6-6228-51A5-032F-C8461911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2A0FF-C377-58A8-0FBD-4FA546B4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253"/>
            <a:ext cx="12192000" cy="4593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ECAA7E-E057-A7DF-15C6-B38216FD78AB}"/>
                  </a:ext>
                </a:extLst>
              </p14:cNvPr>
              <p14:cNvContentPartPr/>
              <p14:nvPr/>
            </p14:nvContentPartPr>
            <p14:xfrm>
              <a:off x="2912691" y="4195692"/>
              <a:ext cx="5434560" cy="949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ECAA7E-E057-A7DF-15C6-B38216FD78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9051" y="4088052"/>
                <a:ext cx="5542200" cy="11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322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8D3B-A8C7-8517-57C9-C70F6A4F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1EF9F-040C-C46F-9BB8-ABE0CAE01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Azure OpenAI experience</a:t>
            </a:r>
          </a:p>
        </p:txBody>
      </p:sp>
    </p:spTree>
    <p:extLst>
      <p:ext uri="{BB962C8B-B14F-4D97-AF65-F5344CB8AC3E}">
        <p14:creationId xmlns:p14="http://schemas.microsoft.com/office/powerpoint/2010/main" val="101638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CDF6-6228-51A5-032F-C8461911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2A0FF-C377-58A8-0FBD-4FA546B4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253"/>
            <a:ext cx="12192000" cy="4593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10C0CB-0BDF-EEBD-8DC0-EDA7F71F1E15}"/>
                  </a:ext>
                </a:extLst>
              </p14:cNvPr>
              <p14:cNvContentPartPr/>
              <p14:nvPr/>
            </p14:nvContentPartPr>
            <p14:xfrm>
              <a:off x="195028" y="4676852"/>
              <a:ext cx="2531520" cy="532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10C0CB-0BDF-EEBD-8DC0-EDA7F71F1E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88" y="4569212"/>
                <a:ext cx="2639160" cy="7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528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076C-8D91-7A60-E38D-FC2B9F92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0907-13FE-3E21-B5BD-C3CEFFAE5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«AI at Work» should be the mantra</a:t>
            </a:r>
          </a:p>
          <a:p>
            <a:r>
              <a:rPr lang="it-IT" dirty="0"/>
              <a:t>Start giving instruments, then teach them</a:t>
            </a:r>
          </a:p>
          <a:p>
            <a:r>
              <a:rPr lang="it-IT" dirty="0"/>
              <a:t>Work to align your offering to the market</a:t>
            </a:r>
          </a:p>
          <a:p>
            <a:endParaRPr lang="it-IT" dirty="0"/>
          </a:p>
          <a:p>
            <a:r>
              <a:rPr lang="it-IT"/>
              <a:t>(nice to have) </a:t>
            </a:r>
            <a:r>
              <a:rPr lang="it-IT" dirty="0"/>
              <a:t>Choose appropriate technologies to reduce your governance around it</a:t>
            </a:r>
          </a:p>
        </p:txBody>
      </p:sp>
    </p:spTree>
    <p:extLst>
      <p:ext uri="{BB962C8B-B14F-4D97-AF65-F5344CB8AC3E}">
        <p14:creationId xmlns:p14="http://schemas.microsoft.com/office/powerpoint/2010/main" val="3802493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spazio, oscurità, Universo, astronomia&#10;&#10;Descrizione generata automaticamente">
            <a:extLst>
              <a:ext uri="{FF2B5EF4-FFF2-40B4-BE49-F238E27FC236}">
                <a16:creationId xmlns:a16="http://schemas.microsoft.com/office/drawing/2014/main" id="{954D81F0-C5FE-4D5E-E7D7-EB8C3A107B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  <a:solidFill>
            <a:srgbClr val="222222"/>
          </a:solidFill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9B47AC5-B900-0903-0AE7-DD347320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900" y="748235"/>
            <a:ext cx="3378200" cy="128021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708A4FC1-3B37-47CE-0085-BA235E803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3"/>
          <a:stretch/>
        </p:blipFill>
        <p:spPr>
          <a:xfrm>
            <a:off x="-2" y="1841710"/>
            <a:ext cx="3006290" cy="3633128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515C105-BF2F-7C5B-FA2C-95C90B647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3"/>
          <a:stretch/>
        </p:blipFill>
        <p:spPr>
          <a:xfrm rot="10800000">
            <a:off x="9185712" y="1844899"/>
            <a:ext cx="3006288" cy="3633130"/>
          </a:xfrm>
          <a:prstGeom prst="rect">
            <a:avLst/>
          </a:prstGeom>
        </p:spPr>
      </p:pic>
      <p:sp>
        <p:nvSpPr>
          <p:cNvPr id="4" name="Titolo 4">
            <a:extLst>
              <a:ext uri="{FF2B5EF4-FFF2-40B4-BE49-F238E27FC236}">
                <a16:creationId xmlns:a16="http://schemas.microsoft.com/office/drawing/2014/main" id="{D2D81507-599B-4806-D916-729A65A08DA9}"/>
              </a:ext>
            </a:extLst>
          </p:cNvPr>
          <p:cNvSpPr txBox="1">
            <a:spLocks/>
          </p:cNvSpPr>
          <p:nvPr/>
        </p:nvSpPr>
        <p:spPr>
          <a:xfrm>
            <a:off x="3195858" y="5881818"/>
            <a:ext cx="5800284" cy="525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4000" b="1" kern="1200" dirty="0">
                <a:solidFill>
                  <a:srgbClr val="BD271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3200" dirty="0">
                <a:solidFill>
                  <a:schemeClr val="bg1"/>
                </a:solidFill>
                <a:latin typeface="+mn-lt"/>
              </a:rPr>
              <a:t>GRAZIE!</a:t>
            </a:r>
          </a:p>
        </p:txBody>
      </p:sp>
      <p:sp>
        <p:nvSpPr>
          <p:cNvPr id="11" name="Rettangolo con angoli arrotondati 3">
            <a:extLst>
              <a:ext uri="{FF2B5EF4-FFF2-40B4-BE49-F238E27FC236}">
                <a16:creationId xmlns:a16="http://schemas.microsoft.com/office/drawing/2014/main" id="{5994D9C8-5653-B524-5560-E1840EA26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1530" y="2321468"/>
            <a:ext cx="2588941" cy="2676804"/>
          </a:xfrm>
          <a:prstGeom prst="roundRect">
            <a:avLst>
              <a:gd name="adj" fmla="val 519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64630C-D3FC-2FF6-DDA6-55F1056F64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54394" y="5073473"/>
            <a:ext cx="4683211" cy="1036292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n-lt"/>
              </a:rPr>
              <a:t>Valuta la </a:t>
            </a:r>
            <a:r>
              <a:rPr lang="en-US" sz="4400" dirty="0" err="1">
                <a:solidFill>
                  <a:schemeClr val="bg1"/>
                </a:solidFill>
                <a:latin typeface="+mn-lt"/>
              </a:rPr>
              <a:t>sessione</a:t>
            </a:r>
            <a:endParaRPr lang="en-US" sz="44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7421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C_Template Slide" id="{47D07049-1B82-4E7F-B848-8BF2660A8FDA}" vid="{8C90AC63-E994-4C9F-A88D-8E5742C3E5C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s xmlns="c16c8e6c-5f33-4a2f-b0f5-e867314360fd" xsi:nil="true"/>
    <MigrationWizIdDocumentLibraryPermissions xmlns="c16c8e6c-5f33-4a2f-b0f5-e867314360fd" xsi:nil="true"/>
    <MigrationWizId xmlns="c16c8e6c-5f33-4a2f-b0f5-e867314360fd" xsi:nil="true"/>
    <MigrationWizIdPermissionLevels xmlns="c16c8e6c-5f33-4a2f-b0f5-e867314360fd" xsi:nil="true"/>
    <MigrationWizIdSecurityGroups xmlns="c16c8e6c-5f33-4a2f-b0f5-e867314360fd" xsi:nil="true"/>
    <lcf76f155ced4ddcb4097134ff3c332f xmlns="c16c8e6c-5f33-4a2f-b0f5-e867314360fd">
      <Terms xmlns="http://schemas.microsoft.com/office/infopath/2007/PartnerControls"/>
    </lcf76f155ced4ddcb4097134ff3c332f>
    <TaxCatchAll xmlns="7bc38eb8-dac7-4a44-a2c1-45076341eb92" xsi:nil="true"/>
    <MediaLengthInSeconds xmlns="c16c8e6c-5f33-4a2f-b0f5-e867314360fd" xsi:nil="true"/>
    <SharedWithUsers xmlns="7bc38eb8-dac7-4a44-a2c1-45076341eb92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B8B37EB8EAAE49A1FF4B0B6D18B8C5" ma:contentTypeVersion="23" ma:contentTypeDescription="Creare un nuovo documento." ma:contentTypeScope="" ma:versionID="625f146616f74682c57f0a88199ccefe">
  <xsd:schema xmlns:xsd="http://www.w3.org/2001/XMLSchema" xmlns:xs="http://www.w3.org/2001/XMLSchema" xmlns:p="http://schemas.microsoft.com/office/2006/metadata/properties" xmlns:ns2="c16c8e6c-5f33-4a2f-b0f5-e867314360fd" xmlns:ns3="7bc38eb8-dac7-4a44-a2c1-45076341eb92" targetNamespace="http://schemas.microsoft.com/office/2006/metadata/properties" ma:root="true" ma:fieldsID="ce1be7b13538429accd663f05715e41a" ns2:_="" ns3:_="">
    <xsd:import namespace="c16c8e6c-5f33-4a2f-b0f5-e867314360fd"/>
    <xsd:import namespace="7bc38eb8-dac7-4a44-a2c1-45076341eb92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6c8e6c-5f33-4a2f-b0f5-e867314360f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6" nillable="true" ma:taxonomy="true" ma:internalName="lcf76f155ced4ddcb4097134ff3c332f" ma:taxonomyFieldName="MediaServiceImageTags" ma:displayName="Tag immagine" ma:readOnly="false" ma:fieldId="{5cf76f15-5ced-4ddc-b409-7134ff3c332f}" ma:taxonomyMulti="true" ma:sspId="c9aca922-bb37-43c1-8e07-ec8a9ae0b9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38eb8-dac7-4a44-a2c1-45076341eb92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b7064790-6eac-4c01-b102-70d4cb2521e2}" ma:internalName="TaxCatchAll" ma:showField="CatchAllData" ma:web="7bc38eb8-dac7-4a44-a2c1-45076341eb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F5D22E-A467-4BDA-8994-5D4B51BDC6B4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c16c8e6c-5f33-4a2f-b0f5-e867314360fd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7bc38eb8-dac7-4a44-a2c1-45076341eb9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A6CA14A-7566-4C51-B6F3-A0364AA055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295307-FF48-4677-B27C-076E72094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6c8e6c-5f33-4a2f-b0f5-e867314360fd"/>
    <ds:schemaRef ds:uri="7bc38eb8-dac7-4a44-a2c1-45076341eb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a6eb597-369a-4930-84c5-101d079358d0}" enabled="1" method="Standard" siteId="{1f991ab0-af89-4a9a-b74d-b0b5bcb487c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WPC_Template_Slide</Template>
  <TotalTime>1</TotalTime>
  <Words>813</Words>
  <Application>Microsoft Office PowerPoint</Application>
  <PresentationFormat>Widescreen</PresentationFormat>
  <Paragraphs>131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Inter</vt:lpstr>
      <vt:lpstr>Open Sans</vt:lpstr>
      <vt:lpstr>Tema di Office</vt:lpstr>
      <vt:lpstr>Road to Copilot: Adottare l’AI nel Modern Workplace</vt:lpstr>
      <vt:lpstr>PowerPoint Presentation</vt:lpstr>
      <vt:lpstr>20 years of (some) innovations</vt:lpstr>
      <vt:lpstr>20 years of (some) innovations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Statement</vt:lpstr>
      <vt:lpstr>Proposal</vt:lpstr>
      <vt:lpstr>Empower</vt:lpstr>
      <vt:lpstr>Let’s give GenAI to every colleague</vt:lpstr>
      <vt:lpstr>The tech part</vt:lpstr>
      <vt:lpstr>PowerPoint Presentation</vt:lpstr>
      <vt:lpstr>DEMO</vt:lpstr>
      <vt:lpstr>PowerPoint Presentation</vt:lpstr>
      <vt:lpstr>compute quadrant (2022)</vt:lpstr>
      <vt:lpstr>compute quadrant (now)</vt:lpstr>
      <vt:lpstr>From K8s to Azure Container Apps</vt:lpstr>
      <vt:lpstr>DEMO</vt:lpstr>
      <vt:lpstr>Familiar YAML</vt:lpstr>
      <vt:lpstr>Simplified experience</vt:lpstr>
      <vt:lpstr>PowerPoint Presentation</vt:lpstr>
      <vt:lpstr>DEMO</vt:lpstr>
      <vt:lpstr>PowerPoint Presentation</vt:lpstr>
      <vt:lpstr>Takeaways</vt:lpstr>
      <vt:lpstr>Valuta la sessione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Freato</dc:creator>
  <cp:lastModifiedBy>Roberto Freato</cp:lastModifiedBy>
  <cp:revision>2</cp:revision>
  <dcterms:created xsi:type="dcterms:W3CDTF">2024-11-26T16:26:50Z</dcterms:created>
  <dcterms:modified xsi:type="dcterms:W3CDTF">2024-11-26T16:28:20Z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0x01010012B8B37EB8EAAE49A1FF4B0B6D18B8C5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